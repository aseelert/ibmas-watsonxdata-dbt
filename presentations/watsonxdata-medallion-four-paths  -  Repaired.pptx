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7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7D79"/>
    <a:srgbClr val="0E61FF"/>
    <a:srgbClr val="893FFD"/>
    <a:srgbClr val="E27427"/>
    <a:srgbClr val="2B7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24"/>
    <p:restoredTop sz="94677"/>
  </p:normalViewPr>
  <p:slideViewPr>
    <p:cSldViewPr snapToGrid="0" snapToObjects="1">
      <p:cViewPr varScale="1">
        <p:scale>
          <a:sx n="206" d="100"/>
          <a:sy n="206" d="100"/>
        </p:scale>
        <p:origin x="184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F9CC9-A30A-0C4B-A68F-68ACF0DC6DB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C36A3-EC9B-584C-8553-C9A62FCB0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14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C36A3-EC9B-584C-8553-C9A62FCB01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87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1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dirty="0">
                <a:solidFill>
                  <a:srgbClr val="0F62FE"/>
                </a:solidFill>
                <a:latin typeface="IBM Plex Sans"/>
              </a:rPr>
              <a:t>IBM WATSONX.DATA ·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1155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dirty="0">
                <a:solidFill>
                  <a:srgbClr val="161616"/>
                </a:solidFill>
                <a:latin typeface="IBM Plex Sans"/>
              </a:rPr>
              <a:t>One Lakehouse,
Four Paths to the Medallion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29000"/>
            <a:ext cx="640080" cy="508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58444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525252"/>
                </a:solidFill>
                <a:latin typeface="IBM Plex Sans"/>
              </a:rPr>
              <a:t>dbt · Spark · DataStage · Confluent  —  Bronze → Silver → Gold on Apache Iceberg</a:t>
            </a:r>
          </a:p>
        </p:txBody>
      </p:sp>
      <p:pic>
        <p:nvPicPr>
          <p:cNvPr id="7" name="Picture 6" descr="ibm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91" y="4709160"/>
            <a:ext cx="1102539" cy="411395"/>
          </a:xfrm>
          <a:prstGeom prst="rect">
            <a:avLst/>
          </a:prstGeom>
        </p:spPr>
      </p:pic>
      <p:pic>
        <p:nvPicPr>
          <p:cNvPr id="8" name="Picture 7" descr="dbt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641" y="4709159"/>
            <a:ext cx="411395" cy="411395"/>
          </a:xfrm>
          <a:prstGeom prst="rect">
            <a:avLst/>
          </a:prstGeom>
        </p:spPr>
      </p:pic>
      <p:pic>
        <p:nvPicPr>
          <p:cNvPr id="9" name="Picture 8" descr="spark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782" y="4709160"/>
            <a:ext cx="792621" cy="411395"/>
          </a:xfrm>
          <a:prstGeom prst="rect">
            <a:avLst/>
          </a:prstGeom>
        </p:spPr>
      </p:pic>
      <p:pic>
        <p:nvPicPr>
          <p:cNvPr id="10" name="Picture 9" descr="conflu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6705" y="4709160"/>
            <a:ext cx="411395" cy="411395"/>
          </a:xfrm>
          <a:prstGeom prst="rect">
            <a:avLst/>
          </a:prstGeom>
        </p:spPr>
      </p:pic>
      <p:pic>
        <p:nvPicPr>
          <p:cNvPr id="11" name="Picture 10" descr="kafka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020" y="4709160"/>
            <a:ext cx="253694" cy="411395"/>
          </a:xfrm>
          <a:prstGeom prst="rect">
            <a:avLst/>
          </a:prstGeom>
        </p:spPr>
      </p:pic>
      <p:pic>
        <p:nvPicPr>
          <p:cNvPr id="12" name="Picture 11" descr="flink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7633" y="4709160"/>
            <a:ext cx="840617" cy="411395"/>
          </a:xfrm>
          <a:prstGeom prst="rect">
            <a:avLst/>
          </a:prstGeom>
        </p:spPr>
      </p:pic>
      <p:pic>
        <p:nvPicPr>
          <p:cNvPr id="13" name="Picture 12" descr="iceberg_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1170" y="4709160"/>
            <a:ext cx="1773112" cy="411395"/>
          </a:xfrm>
          <a:prstGeom prst="rect">
            <a:avLst/>
          </a:prstGeom>
        </p:spPr>
      </p:pic>
      <p:pic>
        <p:nvPicPr>
          <p:cNvPr id="15" name="Picture 14" descr="airflow_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4790" y="4709160"/>
            <a:ext cx="1065513" cy="4113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263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D8D8D"/>
                </a:solidFill>
                <a:latin typeface="IBM Plex Sans"/>
              </a:rPr>
              <a:t>Alexander Seelert  ·  IBM Customer Success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5575" y="626364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dirty="0" err="1">
                <a:solidFill>
                  <a:srgbClr val="8D8D8D"/>
                </a:solidFill>
                <a:latin typeface="IBM Plex Sans"/>
              </a:rPr>
              <a:t>watsonx.data</a:t>
            </a:r>
            <a:r>
              <a:rPr sz="1200" b="0" dirty="0">
                <a:solidFill>
                  <a:srgbClr val="8D8D8D"/>
                </a:solidFill>
                <a:latin typeface="IBM Plex Sans"/>
              </a:rPr>
              <a:t> 5.</a:t>
            </a:r>
            <a:r>
              <a:rPr lang="de-DE" sz="1200" b="0" dirty="0">
                <a:solidFill>
                  <a:srgbClr val="8D8D8D"/>
                </a:solidFill>
                <a:latin typeface="IBM Plex Sans"/>
              </a:rPr>
              <a:t>3</a:t>
            </a:r>
            <a:r>
              <a:rPr sz="1200" b="0" dirty="0">
                <a:solidFill>
                  <a:srgbClr val="8D8D8D"/>
                </a:solidFill>
                <a:latin typeface="IBM Plex Sans"/>
              </a:rPr>
              <a:t>  · 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ECEC06-253D-21E5-156D-5BA6360124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9096" y="4511251"/>
            <a:ext cx="419590" cy="403606"/>
          </a:xfrm>
          <a:prstGeom prst="rect">
            <a:avLst/>
          </a:prstGeom>
        </p:spPr>
      </p:pic>
      <p:pic>
        <p:nvPicPr>
          <p:cNvPr id="20" name="Graphic 19" descr="PrestoDB Logo">
            <a:extLst>
              <a:ext uri="{FF2B5EF4-FFF2-40B4-BE49-F238E27FC236}">
                <a16:creationId xmlns:a16="http://schemas.microsoft.com/office/drawing/2014/main" id="{12DD203C-634F-BD65-6DDB-68D258725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42472" y="4706111"/>
            <a:ext cx="1278083" cy="403605"/>
          </a:xfrm>
          <a:prstGeom prst="rect">
            <a:avLst/>
          </a:prstGeom>
        </p:spPr>
      </p:pic>
      <p:pic>
        <p:nvPicPr>
          <p:cNvPr id="21" name="Picture 20" descr="Try IBM DataStage on Cloud Pak for Data for free | IBM Cloud Pak for Data">
            <a:extLst>
              <a:ext uri="{FF2B5EF4-FFF2-40B4-BE49-F238E27FC236}">
                <a16:creationId xmlns:a16="http://schemas.microsoft.com/office/drawing/2014/main" id="{30B26929-2DB2-3F93-87AB-EA5BD45DC6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7502" y="4702215"/>
            <a:ext cx="411394" cy="4113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SESSION 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What We’ll Cover — and 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5855" cy="364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dirty="0">
                <a:solidFill>
                  <a:srgbClr val="161616"/>
                </a:solidFill>
                <a:latin typeface="IBM Plex Sans"/>
              </a:rPr>
              <a:t>•  The medallion pattern (Bronze → Silver → Gold) — why nearly every serious </a:t>
            </a:r>
            <a:r>
              <a:rPr sz="1550" b="1" dirty="0" err="1">
                <a:solidFill>
                  <a:srgbClr val="161616"/>
                </a:solidFill>
                <a:latin typeface="IBM Plex Sans"/>
              </a:rPr>
              <a:t>lakehouse</a:t>
            </a:r>
            <a:r>
              <a:rPr sz="1550" b="1" dirty="0">
                <a:solidFill>
                  <a:srgbClr val="161616"/>
                </a:solidFill>
                <a:latin typeface="IBM Plex Sans"/>
              </a:rPr>
              <a:t> is built this way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dirty="0">
                <a:solidFill>
                  <a:srgbClr val="161616"/>
                </a:solidFill>
                <a:latin typeface="IBM Plex Sans"/>
              </a:rPr>
              <a:t>•  Four ways to build it on </a:t>
            </a:r>
            <a:r>
              <a:rPr sz="1550" b="1" dirty="0" err="1">
                <a:solidFill>
                  <a:srgbClr val="161616"/>
                </a:solidFill>
                <a:latin typeface="IBM Plex Sans"/>
              </a:rPr>
              <a:t>watsonx.data</a:t>
            </a:r>
            <a:r>
              <a:rPr sz="1550" b="1" dirty="0">
                <a:solidFill>
                  <a:srgbClr val="161616"/>
                </a:solidFill>
                <a:latin typeface="IBM Plex Sans"/>
              </a:rPr>
              <a:t>: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50" b="0" dirty="0">
                <a:solidFill>
                  <a:srgbClr val="161616"/>
                </a:solidFill>
                <a:latin typeface="IBM Plex Sans"/>
              </a:rPr>
              <a:t>–  </a:t>
            </a:r>
            <a:r>
              <a:rPr sz="1350" b="0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350" b="0" dirty="0">
                <a:solidFill>
                  <a:srgbClr val="161616"/>
                </a:solidFill>
                <a:latin typeface="IBM Plex Sans"/>
              </a:rPr>
              <a:t> — SQL-first, free &amp; open source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50" b="0" dirty="0">
                <a:solidFill>
                  <a:srgbClr val="161616"/>
                </a:solidFill>
                <a:latin typeface="IBM Plex Sans"/>
              </a:rPr>
              <a:t>–  Spark — Python, ML-ready, two engine flavors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50" b="0" dirty="0">
                <a:solidFill>
                  <a:srgbClr val="161616"/>
                </a:solidFill>
                <a:latin typeface="IBM Plex Sans"/>
              </a:rPr>
              <a:t>–  DataStage — no-code, governed, visual ETL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50" b="0" dirty="0">
                <a:solidFill>
                  <a:srgbClr val="161616"/>
                </a:solidFill>
                <a:latin typeface="IBM Plex Sans"/>
              </a:rPr>
              <a:t>–  Confluent — Kafka + Flink, event-driven streaming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dirty="0">
                <a:solidFill>
                  <a:srgbClr val="161616"/>
                </a:solidFill>
                <a:latin typeface="IBM Plex Sans"/>
              </a:rPr>
              <a:t>•  Why Databricks and Snowflake are both racing toward event-driven ingestion right now — and how Confluent </a:t>
            </a:r>
            <a:r>
              <a:rPr sz="1550" b="1" dirty="0" err="1">
                <a:solidFill>
                  <a:srgbClr val="161616"/>
                </a:solidFill>
                <a:latin typeface="IBM Plex Sans"/>
              </a:rPr>
              <a:t>Tableflow</a:t>
            </a:r>
            <a:r>
              <a:rPr sz="1550" b="1" dirty="0">
                <a:solidFill>
                  <a:srgbClr val="161616"/>
                </a:solidFill>
                <a:latin typeface="IBM Plex Sans"/>
              </a:rPr>
              <a:t> already does it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dirty="0">
                <a:solidFill>
                  <a:srgbClr val="161616"/>
                </a:solidFill>
                <a:latin typeface="IBM Plex Sans"/>
              </a:rPr>
              <a:t>•  Orchestration: open-source Airflow, and IBM’s OEM partnership with Astronomer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dirty="0">
                <a:solidFill>
                  <a:srgbClr val="161616"/>
                </a:solidFill>
                <a:latin typeface="IBM Plex Sans"/>
              </a:rPr>
              <a:t>•  A side-by-side comparison so you can pick the right tool for your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02 /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dirty="0">
                <a:solidFill>
                  <a:srgbClr val="0F62FE"/>
                </a:solidFill>
                <a:latin typeface="IBM Plex San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dirty="0">
                <a:solidFill>
                  <a:srgbClr val="161616"/>
                </a:solidFill>
                <a:latin typeface="IBM Plex Sans"/>
              </a:rPr>
              <a:t>Why Bronze → Silver → Gold?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120640" cy="907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500" b="1" dirty="0" err="1">
                <a:solidFill>
                  <a:srgbClr val="525252"/>
                </a:solidFill>
                <a:latin typeface="IBM Plex Sans"/>
              </a:rPr>
              <a:t>What</a:t>
            </a:r>
            <a:r>
              <a:rPr lang="de-DE" sz="1500" b="1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1500" b="1" dirty="0" err="1">
                <a:solidFill>
                  <a:srgbClr val="525252"/>
                </a:solidFill>
                <a:latin typeface="IBM Plex Sans"/>
              </a:rPr>
              <a:t>is</a:t>
            </a:r>
            <a:r>
              <a:rPr lang="de-DE" sz="1500" b="1" dirty="0">
                <a:solidFill>
                  <a:srgbClr val="525252"/>
                </a:solidFill>
                <a:latin typeface="IBM Plex Sans"/>
              </a:rPr>
              <a:t> a </a:t>
            </a:r>
            <a:r>
              <a:rPr lang="de-DE" sz="1500" b="1" dirty="0" err="1">
                <a:solidFill>
                  <a:srgbClr val="525252"/>
                </a:solidFill>
                <a:latin typeface="IBM Plex Sans"/>
              </a:rPr>
              <a:t>Medallion</a:t>
            </a:r>
            <a:r>
              <a:rPr lang="de-DE" sz="1500" b="1" dirty="0">
                <a:solidFill>
                  <a:srgbClr val="525252"/>
                </a:solidFill>
                <a:latin typeface="IBM Plex Sans"/>
              </a:rPr>
              <a:t> Layer</a:t>
            </a:r>
          </a:p>
          <a:p>
            <a:endParaRPr lang="de-DE" sz="1450" dirty="0">
              <a:solidFill>
                <a:srgbClr val="161616"/>
              </a:solidFill>
              <a:latin typeface="IBM Plex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it's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just a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naming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convention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for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organizing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ordinary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tables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into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three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quality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450" dirty="0" err="1">
                <a:solidFill>
                  <a:srgbClr val="161616"/>
                </a:solidFill>
                <a:latin typeface="IBM Plex Sans"/>
              </a:rPr>
              <a:t>stages</a:t>
            </a:r>
            <a:r>
              <a:rPr lang="de-DE" sz="1450" dirty="0">
                <a:solidFill>
                  <a:srgbClr val="161616"/>
                </a:solidFill>
                <a:latin typeface="IBM Plex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50141"/>
            <a:ext cx="5120640" cy="2443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sz="1400" b="1" dirty="0">
                <a:solidFill>
                  <a:srgbClr val="525252"/>
                </a:solidFill>
                <a:latin typeface="IBM Plex Sans"/>
              </a:rPr>
              <a:t>The problem without Medallion Layer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 dirty="0">
                <a:solidFill>
                  <a:srgbClr val="161616"/>
                </a:solidFill>
                <a:latin typeface="IBM Plex Sans"/>
              </a:rPr>
              <a:t>•  Raw source data is messy, duplicated, and ungoverned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 dirty="0">
                <a:solidFill>
                  <a:srgbClr val="161616"/>
                </a:solidFill>
                <a:latin typeface="IBM Plex Sans"/>
              </a:rPr>
              <a:t>•  BI dashboards and ML models cannot trust it directly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 dirty="0">
                <a:solidFill>
                  <a:srgbClr val="161616"/>
                </a:solidFill>
                <a:latin typeface="IBM Plex Sans"/>
              </a:rPr>
              <a:t>•  Every team re-invents its own cleaning logic — numbers disagree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 dirty="0">
                <a:solidFill>
                  <a:srgbClr val="161616"/>
                </a:solidFill>
                <a:latin typeface="IBM Plex Sans"/>
              </a:rPr>
              <a:t>•  The medallion pattern gives every layer one job, and one owner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08760"/>
            <a:ext cx="569945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320" y="1508760"/>
            <a:ext cx="54864" cy="123444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627632"/>
            <a:ext cx="5379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01952"/>
            <a:ext cx="5379415" cy="47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Losless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replication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of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source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data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, </a:t>
            </a:r>
            <a:r>
              <a:rPr sz="950" b="0" dirty="0">
                <a:solidFill>
                  <a:srgbClr val="525252"/>
                </a:solidFill>
                <a:latin typeface="IBM Plex Sans"/>
              </a:rPr>
              <a:t>Land the truth, unmodified &amp; </a:t>
            </a:r>
            <a:r>
              <a:rPr sz="950" b="0" dirty="0" err="1">
                <a:solidFill>
                  <a:srgbClr val="525252"/>
                </a:solidFill>
                <a:latin typeface="IBM Plex Sans"/>
              </a:rPr>
              <a:t>replayable</a:t>
            </a:r>
            <a:endParaRPr lang="de-DE" sz="950" b="0" dirty="0">
              <a:solidFill>
                <a:srgbClr val="525252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950" dirty="0">
                <a:solidFill>
                  <a:srgbClr val="525252"/>
                </a:solidFill>
                <a:latin typeface="IBM Plex Sans"/>
              </a:rPr>
              <a:t>Used for later Rebuilds new Process Chains</a:t>
            </a:r>
            <a:br>
              <a:rPr lang="en-US" sz="950" dirty="0">
                <a:solidFill>
                  <a:srgbClr val="525252"/>
                </a:solidFill>
                <a:latin typeface="IBM Plex Sans"/>
              </a:rPr>
            </a:br>
            <a:r>
              <a:rPr lang="en-US" sz="950" dirty="0">
                <a:solidFill>
                  <a:srgbClr val="525252"/>
                </a:solidFill>
                <a:latin typeface="IBM Plex Sans"/>
              </a:rPr>
              <a:t>Query Optimized by Partitioning</a:t>
            </a:r>
            <a:endParaRPr sz="950" b="0" dirty="0">
              <a:solidFill>
                <a:srgbClr val="525252"/>
              </a:solidFill>
              <a:latin typeface="IBM Plex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89320" y="2907792"/>
            <a:ext cx="569945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2907792"/>
            <a:ext cx="54864" cy="1234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3026664"/>
            <a:ext cx="5379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300984"/>
            <a:ext cx="5379415" cy="312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Clean, conformed, joined — one shared definition of “an order”</a:t>
            </a:r>
            <a:br>
              <a:rPr lang="de-DE" sz="950" b="0" dirty="0">
                <a:solidFill>
                  <a:srgbClr val="525252"/>
                </a:solidFill>
                <a:latin typeface="IBM Plex Sans"/>
              </a:rPr>
            </a:b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Join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Multiple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Tabels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into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one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,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full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cleaned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and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enriched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Table.</a:t>
            </a:r>
            <a:endParaRPr sz="950" b="0" dirty="0">
              <a:solidFill>
                <a:srgbClr val="525252"/>
              </a:solidFill>
              <a:latin typeface="IBM Plex San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89320" y="4306824"/>
            <a:ext cx="569945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89320" y="4306824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4425696"/>
            <a:ext cx="5379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700016"/>
            <a:ext cx="5379415" cy="312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Business-ready aggregates — the numbers everyone reports from</a:t>
            </a:r>
            <a:br>
              <a:rPr lang="de-DE" sz="950" b="0" dirty="0">
                <a:solidFill>
                  <a:srgbClr val="525252"/>
                </a:solidFill>
                <a:latin typeface="IBM Plex Sans"/>
              </a:rPr>
            </a:b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Use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Silver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tables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and Create Gold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tables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which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are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Aggregated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(Sum)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or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Views</a:t>
            </a:r>
            <a:endParaRPr sz="950" b="0" dirty="0">
              <a:solidFill>
                <a:srgbClr val="525252"/>
              </a:solidFill>
              <a:latin typeface="IBM Plex San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9253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Each layer is a physical or logical Apache Iceberg table on open object storage — no vendor lock-in.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03 / 20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E1C6587-52E2-61FF-A276-FC112E1B8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844" y="1633752"/>
            <a:ext cx="1100771" cy="9406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00AE6FF-D637-1EEB-9982-171D7243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844" y="3095542"/>
            <a:ext cx="1049809" cy="8406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3EF4320-B8B1-7F93-8F67-9C3C4FCF9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284" y="4548233"/>
            <a:ext cx="623889" cy="725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The Medallion Pattern on an Iceberg Lakehouse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417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54864" cy="137160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CSVs · DBs ·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1965960"/>
            <a:ext cx="3200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9736" y="1965960"/>
            <a:ext cx="206441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59736" y="1965960"/>
            <a:ext cx="54864" cy="137160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42616" y="2084832"/>
            <a:ext cx="17443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359152"/>
            <a:ext cx="1744370" cy="312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raw, as-is, </a:t>
            </a:r>
            <a:r>
              <a:rPr sz="950" b="0" dirty="0" err="1">
                <a:solidFill>
                  <a:srgbClr val="525252"/>
                </a:solidFill>
                <a:latin typeface="IBM Plex Sans"/>
              </a:rPr>
              <a:t>replayable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,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history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,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full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truth</a:t>
            </a:r>
            <a:endParaRPr sz="950" b="0" dirty="0">
              <a:solidFill>
                <a:srgbClr val="525252"/>
              </a:solidFill>
              <a:latin typeface="IBM Plex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3874" y="1965960"/>
            <a:ext cx="3200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642" y="1965960"/>
            <a:ext cx="206441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63642" y="1965960"/>
            <a:ext cx="54864" cy="13716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46522" y="2084832"/>
            <a:ext cx="17443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6522" y="2359152"/>
            <a:ext cx="17443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clean · conformed · joined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780" y="1965960"/>
            <a:ext cx="3200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7548" y="1965960"/>
            <a:ext cx="206441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67548" y="1965960"/>
            <a:ext cx="54864" cy="13716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50428" y="2084832"/>
            <a:ext cx="17443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0428" y="2359152"/>
            <a:ext cx="17443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aggregated business marts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1687" y="1965960"/>
            <a:ext cx="3200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71455" y="1965960"/>
            <a:ext cx="1417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271455" y="1965960"/>
            <a:ext cx="54864" cy="137160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54335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CONSUMERS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23591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BI · ML · apps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840479"/>
            <a:ext cx="3667485" cy="2039109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00507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62FE"/>
                </a:solidFill>
                <a:latin typeface="IBM Plex Sans"/>
              </a:rPr>
              <a:t>ALL THREE LAYERS LIVE IN ONE 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315967"/>
            <a:ext cx="3288133" cy="14588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dirty="0">
                <a:solidFill>
                  <a:srgbClr val="161616"/>
                </a:solidFill>
                <a:latin typeface="IBM Plex Sans"/>
              </a:rPr>
              <a:t>•  Apache Iceberg tables, Parquet format, on S3 object storage — one shared catalog (</a:t>
            </a:r>
            <a:r>
              <a:rPr lang="de-DE" sz="1350" b="0" dirty="0">
                <a:solidFill>
                  <a:srgbClr val="161616"/>
                </a:solidFill>
                <a:latin typeface="IBM Plex Sans"/>
              </a:rPr>
              <a:t>e.g. </a:t>
            </a:r>
            <a:r>
              <a:rPr sz="1350" b="0" dirty="0" err="1">
                <a:solidFill>
                  <a:srgbClr val="161616"/>
                </a:solidFill>
                <a:latin typeface="IBM Plex Sans"/>
              </a:rPr>
              <a:t>iceberg_data</a:t>
            </a:r>
            <a:r>
              <a:rPr sz="1350" b="0" dirty="0">
                <a:solidFill>
                  <a:srgbClr val="161616"/>
                </a:solidFill>
                <a:latin typeface="IBM Plex Sans"/>
              </a:rPr>
              <a:t>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dirty="0">
                <a:solidFill>
                  <a:srgbClr val="161616"/>
                </a:solidFill>
                <a:latin typeface="IBM Plex Sans"/>
              </a:rPr>
              <a:t>•  Storage and compute are decoupled — Presto, Spark</a:t>
            </a:r>
            <a:r>
              <a:rPr lang="de-DE" sz="1350" dirty="0">
                <a:solidFill>
                  <a:srgbClr val="161616"/>
                </a:solidFill>
                <a:latin typeface="IBM Plex Sans"/>
              </a:rPr>
              <a:t> </a:t>
            </a:r>
            <a:r>
              <a:rPr sz="1350" b="0" dirty="0">
                <a:solidFill>
                  <a:srgbClr val="161616"/>
                </a:solidFill>
                <a:latin typeface="IBM Plex Sans"/>
              </a:rPr>
              <a:t>can all read or write the same tables, at the same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04 / 20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EA66460D-5CAF-A925-1E0F-705DE48F5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071" y="3359060"/>
            <a:ext cx="5528848" cy="297904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7941476-515E-EB30-6EDF-5D9A6EF6D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672" y="2587752"/>
            <a:ext cx="1524712" cy="7251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7E0BACC-0C4B-B12D-322B-07DFF00B1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356" y="2624040"/>
            <a:ext cx="1802536" cy="62766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3F8B840-7B45-64F2-ED60-90AF63089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399" y="1986726"/>
            <a:ext cx="350215" cy="2992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C9F3518-9968-D6C4-FD72-877B99EC7B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914" y="1998980"/>
            <a:ext cx="334001" cy="2674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919CED4-68E6-66A0-D9DE-C0CA3BC8CC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0621" y="2009510"/>
            <a:ext cx="198493" cy="23071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7108A05-0B3A-8C98-181F-5C6154EAE4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7940" y="2580093"/>
            <a:ext cx="1108360" cy="727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9AB523E0-635C-AAE3-5162-2257325A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578" y="2300003"/>
            <a:ext cx="6229223" cy="293261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430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dirty="0" err="1">
                <a:solidFill>
                  <a:srgbClr val="161616"/>
                </a:solidFill>
                <a:latin typeface="IBM Plex Sans"/>
              </a:rPr>
              <a:t>watsonx.data</a:t>
            </a:r>
            <a:r>
              <a:rPr sz="2800" b="1" dirty="0">
                <a:solidFill>
                  <a:srgbClr val="161616"/>
                </a:solidFill>
                <a:latin typeface="IBM Plex Sans"/>
              </a:rPr>
              <a:t>: One Catalog, Many Engines</a:t>
            </a:r>
            <a:r>
              <a:rPr lang="de-DE" sz="2800" b="1" dirty="0">
                <a:solidFill>
                  <a:srgbClr val="161616"/>
                </a:solidFill>
                <a:latin typeface="IBM Plex Sans"/>
              </a:rPr>
              <a:t>/Tools</a:t>
            </a:r>
            <a:endParaRPr sz="2800" b="1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80061" y="4387513"/>
            <a:ext cx="2631754" cy="102252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80061" y="4387513"/>
            <a:ext cx="54864" cy="102252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eberg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941" y="4506385"/>
            <a:ext cx="1015737" cy="235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74151" y="4806778"/>
            <a:ext cx="276458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161616"/>
                </a:solidFill>
                <a:latin typeface="IBM Plex Sans"/>
              </a:rPr>
              <a:t>Iceberg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4151" y="5081098"/>
            <a:ext cx="2764586" cy="151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 err="1">
                <a:solidFill>
                  <a:srgbClr val="525252"/>
                </a:solidFill>
                <a:latin typeface="IBM Plex Sans"/>
              </a:rPr>
              <a:t>iceberg_data</a:t>
            </a:r>
            <a:r>
              <a:rPr sz="950" b="0" dirty="0">
                <a:solidFill>
                  <a:srgbClr val="525252"/>
                </a:solidFill>
                <a:latin typeface="IBM Plex Sans"/>
              </a:rPr>
              <a:t> · Parquet ·  S3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37695" y="1408809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37695" y="1408809"/>
            <a:ext cx="54864" cy="96012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0575" y="1820289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 (Gluten)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9994" y="2086139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ETL + ML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35801" y="513215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35801" y="5132150"/>
            <a:ext cx="54864" cy="96012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37695" y="5642741"/>
            <a:ext cx="1965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161616"/>
                </a:solidFill>
                <a:latin typeface="IBM Plex Sans"/>
              </a:rPr>
              <a:t>Flink</a:t>
            </a:r>
            <a:r>
              <a:rPr lang="de-DE" sz="1300" b="1" dirty="0">
                <a:solidFill>
                  <a:srgbClr val="161616"/>
                </a:solidFill>
                <a:latin typeface="IBM Plex Sans"/>
              </a:rPr>
              <a:t> &amp; Kafka</a:t>
            </a:r>
            <a:endParaRPr sz="1300" b="1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55991" y="5808399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Streaming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35837" y="513215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35837" y="5132150"/>
            <a:ext cx="54864" cy="96012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95857" y="560751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161616"/>
                </a:solidFill>
                <a:latin typeface="IBM Plex Sans"/>
              </a:rPr>
              <a:t>DataStage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5857" y="5833890"/>
            <a:ext cx="1965960" cy="151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No-code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/Low Code</a:t>
            </a:r>
            <a:r>
              <a:rPr sz="950" b="0" dirty="0">
                <a:solidFill>
                  <a:srgbClr val="525252"/>
                </a:solidFill>
                <a:latin typeface="IBM Plex Sans"/>
              </a:rPr>
              <a:t> ETL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05 / 20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A62543DB-84B6-FF06-2356-D4AEC6DB2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665" y="5155391"/>
            <a:ext cx="419590" cy="403606"/>
          </a:xfrm>
          <a:prstGeom prst="rect">
            <a:avLst/>
          </a:prstGeom>
        </p:spPr>
      </p:pic>
      <p:pic>
        <p:nvPicPr>
          <p:cNvPr id="39" name="Picture 38" descr="Try IBM DataStage on Cloud Pak for Data for free | IBM Cloud Pak for Data">
            <a:extLst>
              <a:ext uri="{FF2B5EF4-FFF2-40B4-BE49-F238E27FC236}">
                <a16:creationId xmlns:a16="http://schemas.microsoft.com/office/drawing/2014/main" id="{0F29FDD8-AF7A-E80E-3AAB-5C84C87A4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541" y="5204347"/>
            <a:ext cx="341630" cy="341630"/>
          </a:xfrm>
          <a:prstGeom prst="rect">
            <a:avLst/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3FEEE1A-FF0B-BF30-5FA9-6CFBE138DAD2}"/>
              </a:ext>
            </a:extLst>
          </p:cNvPr>
          <p:cNvSpPr/>
          <p:nvPr/>
        </p:nvSpPr>
        <p:spPr>
          <a:xfrm>
            <a:off x="1135837" y="1408809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58CA4FE-5A4E-26BF-AAE3-CEA4DDE58994}"/>
              </a:ext>
            </a:extLst>
          </p:cNvPr>
          <p:cNvSpPr/>
          <p:nvPr/>
        </p:nvSpPr>
        <p:spPr>
          <a:xfrm>
            <a:off x="1135837" y="1408809"/>
            <a:ext cx="54864" cy="96012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dbt_transparent.png">
            <a:extLst>
              <a:ext uri="{FF2B5EF4-FFF2-40B4-BE49-F238E27FC236}">
                <a16:creationId xmlns:a16="http://schemas.microsoft.com/office/drawing/2014/main" id="{AAA5501F-9993-DCD1-FCEF-7960373D2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557" y="1452021"/>
            <a:ext cx="237744" cy="23774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F3F6D15-CDB2-6ADC-B053-25F04A47F80A}"/>
              </a:ext>
            </a:extLst>
          </p:cNvPr>
          <p:cNvSpPr txBox="1"/>
          <p:nvPr/>
        </p:nvSpPr>
        <p:spPr>
          <a:xfrm>
            <a:off x="1242557" y="1744629"/>
            <a:ext cx="2339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dbt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B1F101-4A98-6D86-D836-2192B18272D1}"/>
              </a:ext>
            </a:extLst>
          </p:cNvPr>
          <p:cNvSpPr txBox="1"/>
          <p:nvPr/>
        </p:nvSpPr>
        <p:spPr>
          <a:xfrm>
            <a:off x="1242557" y="2018949"/>
            <a:ext cx="23392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batch</a:t>
            </a:r>
          </a:p>
        </p:txBody>
      </p:sp>
      <p:pic>
        <p:nvPicPr>
          <p:cNvPr id="62" name="Picture 61" descr="spark_r.png">
            <a:extLst>
              <a:ext uri="{FF2B5EF4-FFF2-40B4-BE49-F238E27FC236}">
                <a16:creationId xmlns:a16="http://schemas.microsoft.com/office/drawing/2014/main" id="{30C00FA0-09F3-CFCD-BC9B-64812EC0C2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9994" y="1408730"/>
            <a:ext cx="741383" cy="384801"/>
          </a:xfrm>
          <a:prstGeom prst="rect">
            <a:avLst/>
          </a:prstGeom>
        </p:spPr>
      </p:pic>
      <p:pic>
        <p:nvPicPr>
          <p:cNvPr id="63" name="Picture 62" descr="kafka_r.png">
            <a:extLst>
              <a:ext uri="{FF2B5EF4-FFF2-40B4-BE49-F238E27FC236}">
                <a16:creationId xmlns:a16="http://schemas.microsoft.com/office/drawing/2014/main" id="{138EE29F-1047-8C31-051B-5D26223FA1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1011" y="5213232"/>
            <a:ext cx="253694" cy="411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6966739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THE FOUR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7012459" cy="430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Four Ways In, One Medallion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375664"/>
            <a:ext cx="2659303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75664"/>
            <a:ext cx="54864" cy="182880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bt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4536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787144"/>
            <a:ext cx="2339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61464"/>
            <a:ext cx="23392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72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5103" y="1375664"/>
            <a:ext cx="2659303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45103" y="1375664"/>
            <a:ext cx="54864" cy="18288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park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983" y="1494536"/>
            <a:ext cx="458053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27983" y="1787144"/>
            <a:ext cx="2339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83" y="2061464"/>
            <a:ext cx="23392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7983" y="24272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45103" y="3503046"/>
            <a:ext cx="2659303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45103" y="3503046"/>
            <a:ext cx="54864" cy="182880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05122" y="3905674"/>
            <a:ext cx="2339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161616"/>
                </a:solidFill>
                <a:latin typeface="IBM Plex Sans"/>
              </a:rPr>
              <a:t>DataStage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7745" y="4154124"/>
            <a:ext cx="23392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batch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7983" y="455460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No-Code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496868"/>
            <a:ext cx="2659303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496868"/>
            <a:ext cx="54864" cy="18288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onflu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15740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3908348"/>
            <a:ext cx="23392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Confluent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182668"/>
            <a:ext cx="23392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streaming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484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Streaming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3507" y="477305"/>
            <a:ext cx="2437988" cy="59757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53506" y="477305"/>
            <a:ext cx="54863" cy="59757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36386" y="577890"/>
            <a:ext cx="108658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161616"/>
                </a:solidFill>
                <a:latin typeface="IBM Plex Sans"/>
              </a:rPr>
              <a:t>Identical Gold Marts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6386" y="870497"/>
            <a:ext cx="2038865" cy="151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— same rows, same totals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749991" y="6135624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dirty="0">
                <a:solidFill>
                  <a:srgbClr val="525252"/>
                </a:solidFill>
                <a:latin typeface="IBM Plex Sans"/>
              </a:rPr>
              <a:t>Proven by row-level reconciliation across all three full pipelines — pick the tool that fits the team, not the other way around.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06 / 20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Try IBM DataStage on Cloud Pak for Data for free | IBM Cloud Pak for Data">
            <a:extLst>
              <a:ext uri="{FF2B5EF4-FFF2-40B4-BE49-F238E27FC236}">
                <a16:creationId xmlns:a16="http://schemas.microsoft.com/office/drawing/2014/main" id="{FDC69496-26A1-61E4-F3F6-BF1EA383B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515" y="3524255"/>
            <a:ext cx="341630" cy="34163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6C8B7A2-B1DF-15B6-5F8F-8387215B18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1315" y="1594465"/>
            <a:ext cx="5949850" cy="3219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832B"/>
                </a:solidFill>
                <a:latin typeface="IBM Plex Sans"/>
              </a:rPr>
              <a:t>PATH A —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SQL-First, Free &amp; Open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bt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600200"/>
            <a:ext cx="9692640" cy="46178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Core is Apache 2.0 licensed — completely free, no seat cost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– 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 Cloud (managed CI/CD, scheduling, IDE) is the optional paid layer on top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June 2026: the Rust-based “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Fusion” engine was folded into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Core as “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Core v2” — still fully open source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IBM invests directly in the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ecosystem — three official adapters: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– 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-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watsonx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-presto — what this project uses; table/view materializations, compute pushed to Presto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– 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-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watsonx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-spark — run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 transformations directly on the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watsonx.data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 Spark engine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–  db2-dbt — new (Apache 2.0) —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 now reaches Db2 on IBM platforms too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Compute is pushed down: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only compiles + orchestrates SQL — nothing runs on your laptop</a:t>
            </a:r>
            <a:endParaRPr lang="de-DE" sz="1500" b="1" dirty="0">
              <a:solidFill>
                <a:srgbClr val="161616"/>
              </a:solidFill>
              <a:latin typeface="IBM Plex Sans"/>
            </a:endParaRPr>
          </a:p>
          <a:p>
            <a:pPr>
              <a:lnSpc>
                <a:spcPct val="112000"/>
              </a:lnSpc>
              <a:spcAft>
                <a:spcPts val="1100"/>
              </a:spcAft>
            </a:pPr>
            <a:endParaRPr lang="en-US" sz="1500" b="1" dirty="0">
              <a:solidFill>
                <a:srgbClr val="161616"/>
              </a:solidFill>
              <a:latin typeface="IBM Plex Sans"/>
            </a:endParaRP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lang="en-US" sz="1500" b="1" dirty="0">
                <a:solidFill>
                  <a:srgbClr val="161616"/>
                </a:solidFill>
                <a:latin typeface="IBM Plex Sans"/>
              </a:rPr>
              <a:t>•  Only </a:t>
            </a:r>
            <a:r>
              <a:rPr lang="de-DE" sz="1500" b="1" dirty="0">
                <a:solidFill>
                  <a:srgbClr val="161616"/>
                </a:solidFill>
                <a:latin typeface="IBM Plex Sans"/>
              </a:rPr>
              <a:t>Transformation</a:t>
            </a:r>
            <a:br>
              <a:rPr lang="de-DE" sz="1500" b="1" dirty="0">
                <a:solidFill>
                  <a:srgbClr val="161616"/>
                </a:solidFill>
                <a:latin typeface="IBM Plex Sans"/>
              </a:rPr>
            </a:br>
            <a:r>
              <a:rPr lang="en-US" sz="1500" b="1" dirty="0">
                <a:solidFill>
                  <a:srgbClr val="161616"/>
                </a:solidFill>
                <a:latin typeface="IBM Plex Sans"/>
              </a:rPr>
              <a:t>•  Semantic meaning must be build manually </a:t>
            </a:r>
            <a:endParaRPr lang="de-DE" sz="1500" b="1" dirty="0">
              <a:solidFill>
                <a:srgbClr val="161616"/>
              </a:solidFill>
              <a:latin typeface="IBM Plex Sans"/>
            </a:endParaRPr>
          </a:p>
          <a:p>
            <a:pPr>
              <a:lnSpc>
                <a:spcPct val="112000"/>
              </a:lnSpc>
              <a:spcAft>
                <a:spcPts val="1100"/>
              </a:spcAft>
            </a:pPr>
            <a:endParaRPr sz="1500" b="1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07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832B"/>
                </a:solidFill>
                <a:latin typeface="IBM Plex Sans"/>
              </a:rPr>
              <a:t>PATH A —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430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de-DE" sz="2800" b="1" dirty="0">
                <a:solidFill>
                  <a:srgbClr val="161616"/>
                </a:solidFill>
                <a:latin typeface="IBM Plex Sans"/>
              </a:rPr>
              <a:t>A </a:t>
            </a:r>
            <a:r>
              <a:rPr sz="28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2800" b="1" dirty="0">
                <a:solidFill>
                  <a:srgbClr val="161616"/>
                </a:solidFill>
                <a:latin typeface="IBM Plex Sans"/>
              </a:rPr>
              <a:t>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08 / 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B4E1A7C-8944-8C4B-1D1C-11A4DDB6F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09" y="2058450"/>
            <a:ext cx="6871592" cy="3169584"/>
          </a:xfrm>
          <a:prstGeom prst="rect">
            <a:avLst/>
          </a:prstGeom>
        </p:spPr>
      </p:pic>
      <p:pic>
        <p:nvPicPr>
          <p:cNvPr id="20" name="Picture 19" descr="dbt_transparent.png">
            <a:extLst>
              <a:ext uri="{FF2B5EF4-FFF2-40B4-BE49-F238E27FC236}">
                <a16:creationId xmlns:a16="http://schemas.microsoft.com/office/drawing/2014/main" id="{1D203937-5965-5227-CCE4-161774AD1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4572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5275-A698-B417-B59E-2F87BCF0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0BE738-33D5-411C-174D-EB829E1CF8EE}"/>
              </a:ext>
            </a:extLst>
          </p:cNvPr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832B"/>
                </a:solidFill>
                <a:latin typeface="IBM Plex Sans"/>
              </a:rPr>
              <a:t>PATH A — DBT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E3A57-A710-7B37-1911-5377648E24CF}"/>
              </a:ext>
            </a:extLst>
          </p:cNvPr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Anatomy of a dbt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4323D2-2483-26AE-28AF-3F9E07FF906E}"/>
              </a:ext>
            </a:extLst>
          </p:cNvPr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AAEF3A-1076-091B-F194-7DB4C5BD552C}"/>
              </a:ext>
            </a:extLst>
          </p:cNvPr>
          <p:cNvSpPr/>
          <p:nvPr/>
        </p:nvSpPr>
        <p:spPr>
          <a:xfrm>
            <a:off x="502920" y="150876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E5DF0-806B-5882-D718-3A6D28C27F4D}"/>
              </a:ext>
            </a:extLst>
          </p:cNvPr>
          <p:cNvSpPr txBox="1"/>
          <p:nvPr/>
        </p:nvSpPr>
        <p:spPr>
          <a:xfrm>
            <a:off x="704088" y="163677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DD3FF"/>
                </a:solidFill>
                <a:latin typeface="IBM Plex Mono"/>
              </a:rPr>
              <a:t>$ tree  —  this repo’s dbt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87DF7-4C0D-5010-BB2B-F26081662F78}"/>
              </a:ext>
            </a:extLst>
          </p:cNvPr>
          <p:cNvSpPr txBox="1"/>
          <p:nvPr/>
        </p:nvSpPr>
        <p:spPr>
          <a:xfrm>
            <a:off x="704088" y="1892808"/>
            <a:ext cx="356616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8DD3FF"/>
                </a:solidFill>
                <a:latin typeface="IBM Plex Mono"/>
              </a:rPr>
              <a:t>dbt_project.yml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models/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FB87A"/>
                </a:solidFill>
                <a:latin typeface="IBM Plex Mono"/>
              </a:rPr>
              <a:t>  bronze/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bronze_orders.sql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bronze_sources.yml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8DD3FF"/>
                </a:solidFill>
                <a:latin typeface="IBM Plex Mono"/>
              </a:rPr>
              <a:t>  silver/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silver_sales_enriched.sql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schema.yml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AE68C"/>
                </a:solidFill>
                <a:latin typeface="IBM Plex Mono"/>
              </a:rPr>
              <a:t>  gold/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gold_daily_sales.sql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schema.yml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seeds/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raw_orders.csv  (+3 more)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macros/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generate_schema_name.sql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1CC7A4D-DCED-2500-A790-279F266ACE06}"/>
              </a:ext>
            </a:extLst>
          </p:cNvPr>
          <p:cNvSpPr/>
          <p:nvPr/>
        </p:nvSpPr>
        <p:spPr>
          <a:xfrm>
            <a:off x="4754880" y="1508760"/>
            <a:ext cx="6933895" cy="21488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0A6CAA-D718-7B3C-60D4-D7A59D4F0C86}"/>
              </a:ext>
            </a:extLst>
          </p:cNvPr>
          <p:cNvSpPr txBox="1"/>
          <p:nvPr/>
        </p:nvSpPr>
        <p:spPr>
          <a:xfrm>
            <a:off x="4956048" y="1636776"/>
            <a:ext cx="65681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DD3FF"/>
                </a:solidFill>
                <a:latin typeface="IBM Plex Mono"/>
              </a:rPr>
              <a:t>Bronze — land it as-is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3494B9-C294-28FE-4361-1F07F993B2D8}"/>
              </a:ext>
            </a:extLst>
          </p:cNvPr>
          <p:cNvSpPr txBox="1"/>
          <p:nvPr/>
        </p:nvSpPr>
        <p:spPr>
          <a:xfrm>
            <a:off x="4956048" y="1892808"/>
            <a:ext cx="6568135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7AB060"/>
                </a:solidFill>
                <a:latin typeface="IBM Plex Mono"/>
              </a:rPr>
              <a:t>-- models/bronze/bronze_orders.sql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select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  order_id, customer_id, order_ts, status,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  payment_method, current_timestamp as _ingested_at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8DD3FF"/>
                </a:solidFill>
                <a:latin typeface="IBM Plex Mono"/>
              </a:rPr>
              <a:t>from {{ ref('raw_orders') }}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CF4A4E-5356-E828-A50F-3DDD18C22F43}"/>
              </a:ext>
            </a:extLst>
          </p:cNvPr>
          <p:cNvSpPr/>
          <p:nvPr/>
        </p:nvSpPr>
        <p:spPr>
          <a:xfrm>
            <a:off x="4754880" y="3840480"/>
            <a:ext cx="6933895" cy="21488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267DF-AD04-8F92-9574-62B5D1A6B45E}"/>
              </a:ext>
            </a:extLst>
          </p:cNvPr>
          <p:cNvSpPr txBox="1"/>
          <p:nvPr/>
        </p:nvSpPr>
        <p:spPr>
          <a:xfrm>
            <a:off x="4956048" y="3968496"/>
            <a:ext cx="65681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DD3FF"/>
                </a:solidFill>
                <a:latin typeface="IBM Plex Mono"/>
              </a:rPr>
              <a:t>Gold — the business aggregate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A7A01-4666-9D38-FC91-91FDFD4D75A5}"/>
              </a:ext>
            </a:extLst>
          </p:cNvPr>
          <p:cNvSpPr txBox="1"/>
          <p:nvPr/>
        </p:nvSpPr>
        <p:spPr>
          <a:xfrm>
            <a:off x="4956048" y="4224528"/>
            <a:ext cx="6568135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7AB060"/>
                </a:solidFill>
                <a:latin typeface="IBM Plex Mono"/>
              </a:rPr>
              <a:t>-- models/gold/gold_daily_sales.sql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AE68C"/>
                </a:solidFill>
                <a:latin typeface="IBM Plex Mono"/>
              </a:rPr>
              <a:t>{{ config(materialized='table',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AE68C"/>
                </a:solidFill>
                <a:latin typeface="IBM Plex Mono"/>
              </a:rPr>
              <a:t>    properties={'format': "'PARQUET'"}) }}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select order_date, category,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  count(distinct order_id) as order_count,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  sum(net_amount) as net_revenue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8DD3FF"/>
                </a:solidFill>
                <a:latin typeface="IBM Plex Mono"/>
              </a:rPr>
              <a:t>from {{ ref('silver_sales_enriched') }}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where status = 'completed' group by 1,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F7749-9F1B-3EDB-0A39-3261B728FF2D}"/>
              </a:ext>
            </a:extLst>
          </p:cNvPr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D2F4E7-5630-4071-F320-152CB069159F}"/>
              </a:ext>
            </a:extLst>
          </p:cNvPr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08 / 20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E252DFC2-029F-0B70-AC43-BEC2822DE3F2}"/>
              </a:ext>
            </a:extLst>
          </p:cNvPr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dbt_transparent.png">
            <a:extLst>
              <a:ext uri="{FF2B5EF4-FFF2-40B4-BE49-F238E27FC236}">
                <a16:creationId xmlns:a16="http://schemas.microsoft.com/office/drawing/2014/main" id="{72818B63-5FD7-6898-353F-30AC5FD70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7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E314-D9F6-4563-0AB5-E4EB2158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EED0EF-9115-FBAD-6C6F-1B5883C60918}"/>
              </a:ext>
            </a:extLst>
          </p:cNvPr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832B"/>
                </a:solidFill>
                <a:latin typeface="IBM Plex Sans"/>
              </a:rPr>
              <a:t>PATH A — DBT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E30C3-FADC-E7BA-919F-3EBFEA8350D6}"/>
              </a:ext>
            </a:extLst>
          </p:cNvPr>
          <p:cNvSpPr txBox="1"/>
          <p:nvPr/>
        </p:nvSpPr>
        <p:spPr>
          <a:xfrm>
            <a:off x="502920" y="722376"/>
            <a:ext cx="11155680" cy="430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de-DE" sz="28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lang="de-DE" sz="2800" b="1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2800" b="1" dirty="0" err="1">
                <a:solidFill>
                  <a:srgbClr val="161616"/>
                </a:solidFill>
                <a:latin typeface="IBM Plex Sans"/>
              </a:rPr>
              <a:t>run</a:t>
            </a:r>
            <a:r>
              <a:rPr lang="de-DE" sz="2800" b="1" dirty="0">
                <a:solidFill>
                  <a:srgbClr val="161616"/>
                </a:solidFill>
                <a:latin typeface="IBM Plex Sans"/>
              </a:rPr>
              <a:t> and </a:t>
            </a:r>
            <a:r>
              <a:rPr lang="de-DE" sz="2800" b="1" dirty="0" err="1">
                <a:solidFill>
                  <a:srgbClr val="161616"/>
                </a:solidFill>
                <a:latin typeface="IBM Plex Sans"/>
              </a:rPr>
              <a:t>test</a:t>
            </a:r>
            <a:r>
              <a:rPr lang="de-DE" sz="2800" b="1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2800" b="1" dirty="0" err="1">
                <a:solidFill>
                  <a:srgbClr val="161616"/>
                </a:solidFill>
                <a:latin typeface="IBM Plex Sans"/>
              </a:rPr>
              <a:t>example</a:t>
            </a:r>
            <a:endParaRPr sz="2800" b="1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22390-D070-4773-1F3A-3405AA2B4CB3}"/>
              </a:ext>
            </a:extLst>
          </p:cNvPr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19E99C-A88C-E65A-3928-D2DF39A6E3C2}"/>
              </a:ext>
            </a:extLst>
          </p:cNvPr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9A10FB-7882-AED5-495A-268336E0A52A}"/>
              </a:ext>
            </a:extLst>
          </p:cNvPr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08 / 20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6C49AA-956D-D7E5-07DE-CD7BA572F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3615"/>
            <a:ext cx="4890804" cy="47270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E5456A-510D-FB99-4B1C-617DA50CC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661" y="0"/>
            <a:ext cx="5192339" cy="6858000"/>
          </a:xfrm>
          <a:prstGeom prst="rect">
            <a:avLst/>
          </a:prstGeom>
        </p:spPr>
      </p:pic>
      <p:pic>
        <p:nvPicPr>
          <p:cNvPr id="19" name="Picture 18" descr="dbt_transparent.png">
            <a:extLst>
              <a:ext uri="{FF2B5EF4-FFF2-40B4-BE49-F238E27FC236}">
                <a16:creationId xmlns:a16="http://schemas.microsoft.com/office/drawing/2014/main" id="{44AFF113-33E2-2F05-DA4D-39EE3FEA2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457200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3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PATH B —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Two Engines, One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10047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4864" cy="246888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par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458053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920240"/>
            <a:ext cx="50900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 (Java)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4952847" cy="1087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•  Traditional JVM execution — the classic open-source Spark engine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•  Full ecosystem compatibility, general-purpose default</a:t>
            </a:r>
            <a:endParaRPr lang="de-DE" sz="1300" b="0" dirty="0">
              <a:solidFill>
                <a:srgbClr val="161616"/>
              </a:solidFill>
              <a:latin typeface="IBM Plex Sans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300" dirty="0">
                <a:solidFill>
                  <a:srgbClr val="161616"/>
                </a:solidFill>
                <a:latin typeface="IBM Plex Sans"/>
              </a:rPr>
              <a:t>•  Data already landed in Object Storage (as csv, parquet, </a:t>
            </a:r>
            <a:r>
              <a:rPr lang="en-US" sz="1300" dirty="0" err="1">
                <a:solidFill>
                  <a:srgbClr val="161616"/>
                </a:solidFill>
                <a:latin typeface="IBM Plex Sans"/>
              </a:rPr>
              <a:t>json</a:t>
            </a:r>
            <a:r>
              <a:rPr lang="en-US" sz="1300" dirty="0">
                <a:solidFill>
                  <a:srgbClr val="161616"/>
                </a:solidFill>
                <a:latin typeface="IBM Plex Sans"/>
              </a:rPr>
              <a:t>, …)</a:t>
            </a:r>
            <a:endParaRPr sz="1300" b="0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410047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78727" y="1508760"/>
            <a:ext cx="54864" cy="24688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par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7" y="1627632"/>
            <a:ext cx="458053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61607" y="1920240"/>
            <a:ext cx="50900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Apache Gluten-Accelerated 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194560"/>
            <a:ext cx="5090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377440"/>
            <a:ext cx="4952847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Offloads SparkSQL execution to Velox (open-source C++ engine — Meta / Uber / Intel / IBM)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Fully API-compatible — no code changes to your PySpark jobs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Lower cost per query; hash-joins by 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11185855" cy="17373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37083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62FE"/>
                </a:solidFill>
                <a:latin typeface="IBM Plex Sans"/>
              </a:rPr>
              <a:t>SAME VELOX SUBSTRATE, ACROSS 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81728"/>
            <a:ext cx="1063721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161616"/>
                </a:solidFill>
                <a:latin typeface="IBM Plex Sans"/>
              </a:rPr>
              <a:t>•  Presto C++ (Prestissimo) shares the same Velox core — GA, ~2–3× over Presto Java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161616"/>
                </a:solidFill>
                <a:latin typeface="IBM Plex Sans"/>
              </a:rPr>
              <a:t>•  Gluten’s own 2023 benchmark: workload-dependent speedups (directional, not a current-day SLA)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•  GPU acceleration for Presto C++ (NVIDIA cuDF) is a PRIVATE TECHNICAL PREVIEW — not GA, not a “Premium” SKU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09 / 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spark_r.png">
            <a:extLst>
              <a:ext uri="{FF2B5EF4-FFF2-40B4-BE49-F238E27FC236}">
                <a16:creationId xmlns:a16="http://schemas.microsoft.com/office/drawing/2014/main" id="{4F1B1125-00AC-770E-9E3C-7ADE1D699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264" y="109728"/>
            <a:ext cx="1165819" cy="6050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PATH B —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6056223" cy="430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When to Reach for Spark vs. Presto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1004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par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458053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920240"/>
            <a:ext cx="50900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 — build &amp; 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090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PySpark, Python-first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135727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ML feature engineering at scale — windowing, aggregations across billions of rows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MLlib pipelines — train and score models directly against Iceberg tables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Custom Python / pandas UDFs for logic SQL can’t express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Messy or semi-structured parsing (JSON, nested, multi-format)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Structured Streaming for continuous batch-style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508760"/>
            <a:ext cx="541004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278727" y="150876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1607" y="1920240"/>
            <a:ext cx="50900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Presto — ask &amp;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194560"/>
            <a:ext cx="5090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Federated interactive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651760"/>
            <a:ext cx="5242713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•  Ad-hoc, governed SQL over the same Iceberg tables — no cluster to spin up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•  BI tool connectivity via JDBC / ODBC — Cognos, Power BI, Tableau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•  Sub-second to low-second latency for dashboards and analysts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•  One federated query surface across every engine’s output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•  Prestissimo (Presto C++) — GA, ~2–3× faster than Presto Java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Same Iceberg tables, two access patterns: engineer features in Spark, then query and report in Presto.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10 / 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PrestoDB Logo">
            <a:extLst>
              <a:ext uri="{FF2B5EF4-FFF2-40B4-BE49-F238E27FC236}">
                <a16:creationId xmlns:a16="http://schemas.microsoft.com/office/drawing/2014/main" id="{5704AD69-6BC5-1A24-0525-A4C1E78D8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1607" y="1544701"/>
            <a:ext cx="1278083" cy="403605"/>
          </a:xfrm>
          <a:prstGeom prst="rect">
            <a:avLst/>
          </a:prstGeom>
        </p:spPr>
      </p:pic>
      <p:pic>
        <p:nvPicPr>
          <p:cNvPr id="25" name="Graphic 24" descr="PrestoDB Logo">
            <a:extLst>
              <a:ext uri="{FF2B5EF4-FFF2-40B4-BE49-F238E27FC236}">
                <a16:creationId xmlns:a16="http://schemas.microsoft.com/office/drawing/2014/main" id="{1F4C299E-873A-9917-063F-23328CB0BE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3131" y="273051"/>
            <a:ext cx="1278083" cy="403605"/>
          </a:xfrm>
          <a:prstGeom prst="rect">
            <a:avLst/>
          </a:prstGeom>
        </p:spPr>
      </p:pic>
      <p:pic>
        <p:nvPicPr>
          <p:cNvPr id="26" name="Picture 25" descr="spark_r.png">
            <a:extLst>
              <a:ext uri="{FF2B5EF4-FFF2-40B4-BE49-F238E27FC236}">
                <a16:creationId xmlns:a16="http://schemas.microsoft.com/office/drawing/2014/main" id="{55025B59-0915-08FA-3EF7-FDE6D6385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264" y="109728"/>
            <a:ext cx="1165819" cy="6050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A3FFC"/>
                </a:solidFill>
                <a:latin typeface="IBM Plex Sans"/>
              </a:rPr>
              <a:t>PATH C — DATASTAGE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6589858" cy="430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No-Code, Governed ETL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077950" cy="3759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Visual canvas — build bronze → silver → gold with zero SQL or Python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Talks to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watsonx.data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through the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lakehouse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connector — SQL pushdown straight to the Presto engine</a:t>
            </a:r>
          </a:p>
          <a:p>
            <a:pPr lvl="1">
              <a:lnSpc>
                <a:spcPct val="112000"/>
              </a:lnSpc>
              <a:spcAft>
                <a:spcPts val="13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– 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read_mode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: select +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select_statement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 on the source side</a:t>
            </a:r>
          </a:p>
          <a:p>
            <a:pPr lvl="1">
              <a:lnSpc>
                <a:spcPct val="112000"/>
              </a:lnSpc>
              <a:spcAft>
                <a:spcPts val="1300"/>
              </a:spcAft>
            </a:pPr>
            <a:r>
              <a:rPr sz="1300" b="0" dirty="0">
                <a:solidFill>
                  <a:srgbClr val="161616"/>
                </a:solidFill>
                <a:latin typeface="IBM Plex Sans"/>
              </a:rPr>
              <a:t>–  </a:t>
            </a:r>
            <a:r>
              <a:rPr sz="1300" b="0" dirty="0" err="1">
                <a:solidFill>
                  <a:srgbClr val="161616"/>
                </a:solidFill>
                <a:latin typeface="IBM Plex Sans"/>
              </a:rPr>
              <a:t>table_action</a:t>
            </a:r>
            <a:r>
              <a:rPr sz="1300" b="0" dirty="0">
                <a:solidFill>
                  <a:srgbClr val="161616"/>
                </a:solidFill>
                <a:latin typeface="IBM Plex Sans"/>
              </a:rPr>
              <a:t>: replace on the target side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Built entirely via REST API in this project — no DataStage SDK required; flows are created as CAMS assets in a Cloud Pak for Data project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Part of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watsonx.data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Integration — alongside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StreamSets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, Data Replication (CDC), UDI, and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Databand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observability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 dirty="0">
                <a:solidFill>
                  <a:srgbClr val="161616"/>
                </a:solidFill>
                <a:latin typeface="IBM Plex Sans"/>
              </a:rPr>
              <a:t>•  Proven in this project: DataStage flows reproduce the exact same 13 </a:t>
            </a:r>
            <a:r>
              <a:rPr sz="15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500" b="1" dirty="0">
                <a:solidFill>
                  <a:srgbClr val="161616"/>
                </a:solidFill>
                <a:latin typeface="IBM Plex Sans"/>
              </a:rPr>
              <a:t> models — gold sums match to the 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06440"/>
            <a:ext cx="11185855" cy="5486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907024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Best for teams that standardize on a governed, audited, visual ETL tool — the business logic is identical to dbt/Spark, just no code to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11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9BF397A-6E74-EAA3-6D45-2CDA9D12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130" y="7909"/>
            <a:ext cx="4913870" cy="3233914"/>
          </a:xfrm>
          <a:prstGeom prst="rect">
            <a:avLst/>
          </a:prstGeom>
        </p:spPr>
      </p:pic>
      <p:pic>
        <p:nvPicPr>
          <p:cNvPr id="11" name="Picture 10" descr="Try IBM DataStage on Cloud Pak for Data for free | IBM Cloud Pak for Data">
            <a:extLst>
              <a:ext uri="{FF2B5EF4-FFF2-40B4-BE49-F238E27FC236}">
                <a16:creationId xmlns:a16="http://schemas.microsoft.com/office/drawing/2014/main" id="{B6F14703-3770-76AB-B436-CF1A1FCD8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9986" y="188969"/>
            <a:ext cx="341630" cy="341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07D79"/>
                </a:solidFill>
                <a:latin typeface="IBM Plex Sans"/>
              </a:rPr>
              <a:t>PATH D — CONFLUENT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Streaming, Not Batch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16245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Producer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16245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CSV/DB rows → Avro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7483" y="1828800"/>
            <a:ext cx="365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3243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13243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kafka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123" y="1947672"/>
            <a:ext cx="146609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96123" y="2240280"/>
            <a:ext cx="16245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Kafka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6123" y="2514600"/>
            <a:ext cx="16245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governed by Schema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7806" y="1828800"/>
            <a:ext cx="365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3566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3566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link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446" y="1947672"/>
            <a:ext cx="485790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06446" y="2240280"/>
            <a:ext cx="16245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Apache Flink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46" y="2514600"/>
            <a:ext cx="16245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continuous SQL, 9 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129" y="1828800"/>
            <a:ext cx="365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3889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33889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eberg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769" y="1947672"/>
            <a:ext cx="1024677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16769" y="2240280"/>
            <a:ext cx="16245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Iceberg Sink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769" y="2514600"/>
            <a:ext cx="16245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watsonx.data catalog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8452" y="1828800"/>
            <a:ext cx="365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44212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44212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27092" y="1947672"/>
            <a:ext cx="16245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Gold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7092" y="2221992"/>
            <a:ext cx="16245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Spark or DataStage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1" y="3429000"/>
            <a:ext cx="5341826" cy="24157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0" dirty="0">
                <a:solidFill>
                  <a:srgbClr val="161616"/>
                </a:solidFill>
                <a:latin typeface="IBM Plex Sans"/>
              </a:rPr>
              <a:t>•  Bronze becomes a </a:t>
            </a:r>
            <a:r>
              <a:rPr sz="1400" b="0" dirty="0" err="1">
                <a:solidFill>
                  <a:srgbClr val="161616"/>
                </a:solidFill>
                <a:latin typeface="IBM Plex Sans"/>
              </a:rPr>
              <a:t>replayable</a:t>
            </a:r>
            <a:r>
              <a:rPr sz="1400" b="0" dirty="0">
                <a:solidFill>
                  <a:srgbClr val="161616"/>
                </a:solidFill>
                <a:latin typeface="IBM Plex Sans"/>
              </a:rPr>
              <a:t> event log (Kafka topic), not a static table — rewind and reprocess anytime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0" dirty="0">
                <a:solidFill>
                  <a:srgbClr val="161616"/>
                </a:solidFill>
                <a:latin typeface="IBM Plex Sans"/>
              </a:rPr>
              <a:t>•  Schema Registry (Avro) is streaming’s version of </a:t>
            </a:r>
            <a:r>
              <a:rPr sz="1400" b="0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400" b="0" dirty="0">
                <a:solidFill>
                  <a:srgbClr val="161616"/>
                </a:solidFill>
                <a:latin typeface="IBM Plex Sans"/>
              </a:rPr>
              <a:t> tests — a bad message is rejected at the gate, not discovered downstream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0" dirty="0">
                <a:solidFill>
                  <a:srgbClr val="161616"/>
                </a:solidFill>
                <a:latin typeface="IBM Plex Sans"/>
              </a:rPr>
              <a:t>•  Silver updates seconds after data happens — not on tomorrow’s batch schedule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0" dirty="0">
                <a:solidFill>
                  <a:srgbClr val="161616"/>
                </a:solidFill>
                <a:latin typeface="IBM Plex Sans"/>
              </a:rPr>
              <a:t>•  Same destination as </a:t>
            </a:r>
            <a:r>
              <a:rPr sz="1400" b="0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400" b="0" dirty="0">
                <a:solidFill>
                  <a:srgbClr val="161616"/>
                </a:solidFill>
                <a:latin typeface="IBM Plex Sans"/>
              </a:rPr>
              <a:t> and Spark: identical </a:t>
            </a:r>
            <a:r>
              <a:rPr sz="1400" b="0" dirty="0" err="1">
                <a:solidFill>
                  <a:srgbClr val="161616"/>
                </a:solidFill>
                <a:latin typeface="IBM Plex Sans"/>
              </a:rPr>
              <a:t>confluent_demo_gold</a:t>
            </a:r>
            <a:r>
              <a:rPr sz="1400" b="0" dirty="0">
                <a:solidFill>
                  <a:srgbClr val="161616"/>
                </a:solidFill>
                <a:latin typeface="IBM Plex Sans"/>
              </a:rPr>
              <a:t> marts, reconciled row-for-row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12 / 20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confluent.png">
            <a:extLst>
              <a:ext uri="{FF2B5EF4-FFF2-40B4-BE49-F238E27FC236}">
                <a16:creationId xmlns:a16="http://schemas.microsoft.com/office/drawing/2014/main" id="{7F01862A-D06A-387C-5FB8-EC84B75F6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5917" y="274405"/>
            <a:ext cx="411395" cy="411395"/>
          </a:xfrm>
          <a:prstGeom prst="rect">
            <a:avLst/>
          </a:prstGeom>
        </p:spPr>
      </p:pic>
      <p:pic>
        <p:nvPicPr>
          <p:cNvPr id="38" name="Picture 37" descr="Confluent Tableflow integrates Kafka topic data with external catalogs and engines.">
            <a:extLst>
              <a:ext uri="{FF2B5EF4-FFF2-40B4-BE49-F238E27FC236}">
                <a16:creationId xmlns:a16="http://schemas.microsoft.com/office/drawing/2014/main" id="{A3E731D8-23F7-2DAE-7C1D-B6F171F05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747" y="3575304"/>
            <a:ext cx="6269554" cy="2677195"/>
          </a:xfrm>
          <a:prstGeom prst="rect">
            <a:avLst/>
          </a:prstGeom>
        </p:spPr>
      </p:pic>
      <p:pic>
        <p:nvPicPr>
          <p:cNvPr id="39" name="Picture 38" descr="ibm_r.png">
            <a:extLst>
              <a:ext uri="{FF2B5EF4-FFF2-40B4-BE49-F238E27FC236}">
                <a16:creationId xmlns:a16="http://schemas.microsoft.com/office/drawing/2014/main" id="{CE7D01F3-18C8-7406-AAF1-701749C0F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2646" y="4792812"/>
            <a:ext cx="222003" cy="82837"/>
          </a:xfrm>
          <a:prstGeom prst="rect">
            <a:avLst/>
          </a:prstGeom>
        </p:spPr>
      </p:pic>
      <p:pic>
        <p:nvPicPr>
          <p:cNvPr id="41" name="Picture 40" descr="ibm_r.png">
            <a:extLst>
              <a:ext uri="{FF2B5EF4-FFF2-40B4-BE49-F238E27FC236}">
                <a16:creationId xmlns:a16="http://schemas.microsoft.com/office/drawing/2014/main" id="{2A847AF4-0871-C188-BB76-6818B1A2A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206" y="5428424"/>
            <a:ext cx="222003" cy="828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07D79"/>
                </a:solidFill>
                <a:latin typeface="IBM Plex Sans"/>
              </a:rPr>
              <a:t>PATH D — CONFLUENT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Tableflow: Kafka Topics Become Tables — Zero ETL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4922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61616"/>
                </a:solidFill>
                <a:latin typeface="IBM Plex Sans"/>
              </a:rPr>
              <a:t>•  GA March 2025 for Iceberg; GA October 2025 for Delta Lake / Databricks Unity Catalog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One checkbox on a topic — automatic schematization, type conversion, schema evolution, file compaction, catalog publishing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Queryable by any engine — Snowflake, Databricks, BigQuery, Trino/Presto — without copying data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In Confluent’s own words: Flink output is “the equivalent of Silver level data… mapped into Gold level data products”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61616"/>
                </a:solidFill>
                <a:latin typeface="IBM Plex Sans"/>
              </a:rPr>
              <a:t>•  Confluent Cloud only — no on-prem availability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08760"/>
            <a:ext cx="4373575" cy="2297113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0" y="1691640"/>
            <a:ext cx="39163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7D79"/>
                </a:solidFill>
                <a:latin typeface="IBM Plex Sans"/>
              </a:rPr>
              <a:t>THIS WORKSHOP’S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103120"/>
            <a:ext cx="3916375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61616"/>
                </a:solidFill>
                <a:latin typeface="IBM Plex Sans"/>
              </a:rPr>
              <a:t>We demonstrate the same pattern self-hosted: Kafka (KRaft) + Schema Registry + 9 Flink SQL jobs + a self-hosted Iceberg REST catalog + register_table into the watsonx.data catalog — Tableflow automates exactly this on Confluent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13 / 20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onfluent.png">
            <a:extLst>
              <a:ext uri="{FF2B5EF4-FFF2-40B4-BE49-F238E27FC236}">
                <a16:creationId xmlns:a16="http://schemas.microsoft.com/office/drawing/2014/main" id="{E931C83A-14BF-E1DB-9B2D-331A77431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917" y="274405"/>
            <a:ext cx="411395" cy="411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8842B5-1D36-450D-70CC-BBC979E4F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180" y="3918172"/>
            <a:ext cx="4300131" cy="19609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A3FFC"/>
                </a:solidFill>
                <a:latin typeface="IBM Plex Sans"/>
              </a:rPr>
              <a:t>INDUSTRY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161616"/>
                </a:solidFill>
                <a:latin typeface="IBM Plex Sans"/>
              </a:rPr>
              <a:t>Batch Is No Longer the Default — Even for Databricks &amp; Snowflake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10047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4864" cy="6858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0900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Databricks Lakeflow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13572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Lakeflow Connect — 100+ managed connectors, incl. streaming / message-bus sources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Real-Time Mode (Public Preview) — end-to-end latency as low as ~5ms for fraud detection, personalization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Zerobus Ingest — no message bus needed, writes land in under 5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08760"/>
            <a:ext cx="5410047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8727" y="1508760"/>
            <a:ext cx="54864" cy="68580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1627632"/>
            <a:ext cx="50900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Snowflake Openflow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377440"/>
            <a:ext cx="513572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Built on open-source Apache NiFi (from the 2024 Datavolo acquisition) — GA 2025 on AWS BYOC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Openflow Connector for Kafka — reads topics directly into Snowflake tables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Redesigned Snowpipe Streaming — vendor-reported up to 10 GB/s, ~5-second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623560"/>
            <a:ext cx="11185855" cy="71323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7424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The two biggest cloud data warehouses are both racing toward the same Kafka-native, low-latency pattern this workshop’s Confluent path already runs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14 / 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Batch vs. Event-Driven, Mechanically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002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1600200"/>
            <a:ext cx="54864" cy="12344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719072"/>
            <a:ext cx="179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Scheduled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93392"/>
            <a:ext cx="17906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(cron / hourly / nightly)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6663" y="1600200"/>
            <a:ext cx="3200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6703" y="16002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16703" y="1600200"/>
            <a:ext cx="54864" cy="12344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9583" y="1719072"/>
            <a:ext cx="179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Full or incremental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9583" y="1993392"/>
            <a:ext cx="17906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table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367" y="1600200"/>
            <a:ext cx="3200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47407" y="16002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47407" y="1600200"/>
            <a:ext cx="54864" cy="12344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30287" y="1719072"/>
            <a:ext cx="179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0287" y="1993392"/>
            <a:ext cx="17906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(SQL / PySpark)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8071" y="1600200"/>
            <a:ext cx="3200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8111" y="16002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78111" y="1600200"/>
            <a:ext cx="54864" cy="12344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60991" y="1719072"/>
            <a:ext cx="179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Write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0991" y="1993392"/>
            <a:ext cx="17906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then 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907792"/>
            <a:ext cx="96313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D8D8D"/>
                </a:solidFill>
                <a:latin typeface="IBM Plex Sans"/>
              </a:rPr>
              <a:t>dbt · Spark · DataStage — reacts on the next scheduled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5661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EVENT-DRIVEN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34290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86000" y="3429000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68880" y="3547872"/>
            <a:ext cx="179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CDC or native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822192"/>
            <a:ext cx="1872918" cy="47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producer emits a row</a:t>
            </a:r>
            <a:br>
              <a:rPr lang="de-DE" sz="950" b="0" dirty="0">
                <a:solidFill>
                  <a:srgbClr val="525252"/>
                </a:solidFill>
                <a:latin typeface="IBM Plex Sans"/>
              </a:rPr>
            </a:br>
            <a:r>
              <a:rPr lang="de-DE" sz="950" dirty="0" err="1">
                <a:solidFill>
                  <a:srgbClr val="525252"/>
                </a:solidFill>
                <a:latin typeface="IBM Plex Sans"/>
              </a:rPr>
              <a:t>example</a:t>
            </a:r>
            <a:r>
              <a:rPr lang="de-DE" sz="950" dirty="0">
                <a:solidFill>
                  <a:srgbClr val="525252"/>
                </a:solidFill>
                <a:latin typeface="IBM Plex Sans"/>
              </a:rPr>
              <a:t>:</a:t>
            </a:r>
            <a:br>
              <a:rPr lang="de-DE" sz="950" dirty="0">
                <a:solidFill>
                  <a:srgbClr val="525252"/>
                </a:solidFill>
                <a:latin typeface="IBM Plex Sans"/>
              </a:rPr>
            </a:br>
            <a:r>
              <a:rPr lang="de-DE" sz="950" dirty="0">
                <a:solidFill>
                  <a:srgbClr val="525252"/>
                </a:solidFill>
                <a:latin typeface="IBM Plex Sans"/>
              </a:rPr>
              <a:t>IBM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Infosphere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Data Replication</a:t>
            </a:r>
            <a:endParaRPr sz="950" b="0" dirty="0">
              <a:solidFill>
                <a:srgbClr val="525252"/>
              </a:solidFill>
              <a:latin typeface="IBM Plex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96663" y="3429000"/>
            <a:ext cx="3200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07D79"/>
                </a:solidFill>
                <a:latin typeface="IBM Plex San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16703" y="34290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16703" y="3429000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9583" y="3547872"/>
            <a:ext cx="179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Durable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9583" y="3822192"/>
            <a:ext cx="1790623" cy="312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(Kafka topic)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</a:t>
            </a:r>
            <a:br>
              <a:rPr lang="de-DE" sz="950" b="0" dirty="0">
                <a:solidFill>
                  <a:srgbClr val="525252"/>
                </a:solidFill>
                <a:latin typeface="IBM Plex Sans"/>
              </a:rPr>
            </a:b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retention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7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days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 (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example</a:t>
            </a: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)</a:t>
            </a:r>
            <a:endParaRPr sz="950" b="0" dirty="0">
              <a:solidFill>
                <a:srgbClr val="525252"/>
              </a:solidFill>
              <a:latin typeface="IBM Plex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27367" y="3429000"/>
            <a:ext cx="3200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07D79"/>
                </a:solidFill>
                <a:latin typeface="IBM Plex San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47407" y="34290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147407" y="3429000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30287" y="3547872"/>
            <a:ext cx="179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Stream processor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0287" y="3822192"/>
            <a:ext cx="1790623" cy="312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(Flink)</a:t>
            </a:r>
            <a:br>
              <a:rPr lang="de-DE" sz="950" b="0" dirty="0">
                <a:solidFill>
                  <a:srgbClr val="525252"/>
                </a:solidFill>
                <a:latin typeface="IBM Plex Sans"/>
              </a:rPr>
            </a:br>
            <a:r>
              <a:rPr lang="de-DE" sz="950" b="0" dirty="0">
                <a:solidFill>
                  <a:srgbClr val="525252"/>
                </a:solidFill>
                <a:latin typeface="IBM Plex Sans"/>
              </a:rPr>
              <a:t>SQL </a:t>
            </a:r>
            <a:r>
              <a:rPr lang="de-DE" sz="950" b="0" dirty="0" err="1">
                <a:solidFill>
                  <a:srgbClr val="525252"/>
                </a:solidFill>
                <a:latin typeface="IBM Plex Sans"/>
              </a:rPr>
              <a:t>transformation</a:t>
            </a:r>
            <a:endParaRPr sz="950" b="0" dirty="0">
              <a:solidFill>
                <a:srgbClr val="525252"/>
              </a:solidFill>
              <a:latin typeface="IBM Plex San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58071" y="3429000"/>
            <a:ext cx="3200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07D79"/>
                </a:solidFill>
                <a:latin typeface="IBM Plex San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78111" y="34290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578111" y="3429000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60991" y="3547872"/>
            <a:ext cx="17906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Continuous sink,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0991" y="3822192"/>
            <a:ext cx="17906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dirty="0">
                <a:solidFill>
                  <a:srgbClr val="525252"/>
                </a:solidFill>
                <a:latin typeface="IBM Plex Sans"/>
              </a:rPr>
              <a:t>exactly-once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736592"/>
            <a:ext cx="96313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D8D8D"/>
                </a:solidFill>
                <a:latin typeface="IBM Plex Sans"/>
              </a:rPr>
              <a:t>Confluent · Openflow · Lakeflow — reacts within seconds of the source row changing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166360"/>
            <a:ext cx="1118585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25252"/>
                </a:solidFill>
                <a:latin typeface="IBM Plex Sans"/>
              </a:rPr>
              <a:t>CDC = reading the database’s transaction log instead of polling tables.   Exactly-once = idempotent producers + transactional writes + offset commits tied to the sink write.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15 / 20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confluent.png">
            <a:extLst>
              <a:ext uri="{FF2B5EF4-FFF2-40B4-BE49-F238E27FC236}">
                <a16:creationId xmlns:a16="http://schemas.microsoft.com/office/drawing/2014/main" id="{25D68E37-2844-13C0-F58B-6A8751B2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04" y="4102891"/>
            <a:ext cx="411395" cy="411395"/>
          </a:xfrm>
          <a:prstGeom prst="rect">
            <a:avLst/>
          </a:prstGeom>
        </p:spPr>
      </p:pic>
      <p:pic>
        <p:nvPicPr>
          <p:cNvPr id="52" name="Picture 51" descr="dbt_transparent.png">
            <a:extLst>
              <a:ext uri="{FF2B5EF4-FFF2-40B4-BE49-F238E27FC236}">
                <a16:creationId xmlns:a16="http://schemas.microsoft.com/office/drawing/2014/main" id="{DB334C9B-C50B-B202-0FF2-EE2D2A2A9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57" y="2170288"/>
            <a:ext cx="411395" cy="411395"/>
          </a:xfrm>
          <a:prstGeom prst="rect">
            <a:avLst/>
          </a:prstGeom>
        </p:spPr>
      </p:pic>
      <p:pic>
        <p:nvPicPr>
          <p:cNvPr id="53" name="Picture 52" descr="spark_r.png">
            <a:extLst>
              <a:ext uri="{FF2B5EF4-FFF2-40B4-BE49-F238E27FC236}">
                <a16:creationId xmlns:a16="http://schemas.microsoft.com/office/drawing/2014/main" id="{906A6C3F-1678-FC25-AE21-F7DA98FFC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219" y="2126022"/>
            <a:ext cx="792621" cy="411395"/>
          </a:xfrm>
          <a:prstGeom prst="rect">
            <a:avLst/>
          </a:prstGeom>
        </p:spPr>
      </p:pic>
      <p:pic>
        <p:nvPicPr>
          <p:cNvPr id="55" name="Picture 54" descr="Try IBM DataStage on Cloud Pak for Data for free | IBM Cloud Pak for Data">
            <a:extLst>
              <a:ext uri="{FF2B5EF4-FFF2-40B4-BE49-F238E27FC236}">
                <a16:creationId xmlns:a16="http://schemas.microsoft.com/office/drawing/2014/main" id="{E2AA6B5C-A2A1-35FB-B0E3-C4C01B5BA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25" y="2229485"/>
            <a:ext cx="341630" cy="341630"/>
          </a:xfrm>
          <a:prstGeom prst="rect">
            <a:avLst/>
          </a:prstGeom>
        </p:spPr>
      </p:pic>
      <p:pic>
        <p:nvPicPr>
          <p:cNvPr id="56" name="Picture 55" descr="kafka_r.png">
            <a:extLst>
              <a:ext uri="{FF2B5EF4-FFF2-40B4-BE49-F238E27FC236}">
                <a16:creationId xmlns:a16="http://schemas.microsoft.com/office/drawing/2014/main" id="{078959E7-3F3D-4882-C07C-010C261509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10" y="4116422"/>
            <a:ext cx="253694" cy="411395"/>
          </a:xfrm>
          <a:prstGeom prst="rect">
            <a:avLst/>
          </a:prstGeom>
        </p:spPr>
      </p:pic>
      <p:pic>
        <p:nvPicPr>
          <p:cNvPr id="57" name="Picture 56" descr="flink_r.png">
            <a:extLst>
              <a:ext uri="{FF2B5EF4-FFF2-40B4-BE49-F238E27FC236}">
                <a16:creationId xmlns:a16="http://schemas.microsoft.com/office/drawing/2014/main" id="{21C355C3-0D7E-ECF7-E5BE-B01188F285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000" y="4186589"/>
            <a:ext cx="840617" cy="41139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554ED2C-CE8A-D55F-F762-EAC71D903D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7463" y="3988680"/>
            <a:ext cx="419590" cy="4036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161616"/>
                </a:solidFill>
                <a:latin typeface="IBM Plex Sans"/>
              </a:rPr>
              <a:t>Airflow Runs the Batch Paths,
Astronomer Makes It Enterprise-Grade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373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6330366" cy="372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 dirty="0">
                <a:solidFill>
                  <a:srgbClr val="161616"/>
                </a:solidFill>
                <a:latin typeface="IBM Plex Sans"/>
              </a:rPr>
              <a:t>•  Apache Airflow (open source) schedules and chains this project’s </a:t>
            </a:r>
            <a:r>
              <a:rPr sz="145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450" b="1" dirty="0">
                <a:solidFill>
                  <a:srgbClr val="161616"/>
                </a:solidFill>
                <a:latin typeface="IBM Plex Sans"/>
              </a:rPr>
              <a:t> and Spark batch builds — airflow/</a:t>
            </a:r>
            <a:r>
              <a:rPr sz="1450" b="1" dirty="0" err="1">
                <a:solidFill>
                  <a:srgbClr val="161616"/>
                </a:solidFill>
                <a:latin typeface="IBM Plex Sans"/>
              </a:rPr>
              <a:t>dags</a:t>
            </a:r>
            <a:r>
              <a:rPr sz="1450" b="1" dirty="0">
                <a:solidFill>
                  <a:srgbClr val="161616"/>
                </a:solidFill>
                <a:latin typeface="IBM Plex Sans"/>
              </a:rPr>
              <a:t>/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 dirty="0">
                <a:solidFill>
                  <a:srgbClr val="161616"/>
                </a:solidFill>
                <a:latin typeface="IBM Plex Sans"/>
              </a:rPr>
              <a:t>•  March 2025: IBM + Astronomer announced “Astronomer with IBM” — an OEM partnership embedding Astronomer’s managed Astro platform into IBM’s data &amp; AI stack</a:t>
            </a:r>
          </a:p>
          <a:p>
            <a:pPr lvl="1">
              <a:lnSpc>
                <a:spcPct val="112000"/>
              </a:lnSpc>
              <a:spcAft>
                <a:spcPts val="1300"/>
              </a:spcAft>
            </a:pPr>
            <a:r>
              <a:rPr sz="1250" b="0" dirty="0">
                <a:solidFill>
                  <a:srgbClr val="161616"/>
                </a:solidFill>
                <a:latin typeface="IBM Plex Sans"/>
              </a:rPr>
              <a:t>–  Astronomer is the company behind Apache Airflow — used by 15,000+ data engineering teams</a:t>
            </a:r>
          </a:p>
          <a:p>
            <a:pPr lvl="1">
              <a:lnSpc>
                <a:spcPct val="112000"/>
              </a:lnSpc>
              <a:spcAft>
                <a:spcPts val="1300"/>
              </a:spcAft>
            </a:pPr>
            <a:r>
              <a:rPr sz="1250" b="0" dirty="0">
                <a:solidFill>
                  <a:srgbClr val="161616"/>
                </a:solidFill>
                <a:latin typeface="IBM Plex Sans"/>
              </a:rPr>
              <a:t>–  Adds enterprise scalability, security,</a:t>
            </a:r>
            <a:br>
              <a:rPr lang="de-DE" sz="1250" b="0" dirty="0">
                <a:solidFill>
                  <a:srgbClr val="161616"/>
                </a:solidFill>
                <a:latin typeface="IBM Plex Sans"/>
              </a:rPr>
            </a:br>
            <a:r>
              <a:rPr sz="1250" b="0" dirty="0">
                <a:solidFill>
                  <a:srgbClr val="161616"/>
                </a:solidFill>
                <a:latin typeface="IBM Plex Sans"/>
              </a:rPr>
              <a:t> support, and hybrid-cloud deployment </a:t>
            </a:r>
            <a:br>
              <a:rPr lang="de-DE" sz="1250" b="0" dirty="0">
                <a:solidFill>
                  <a:srgbClr val="161616"/>
                </a:solidFill>
                <a:latin typeface="IBM Plex Sans"/>
              </a:rPr>
            </a:br>
            <a:r>
              <a:rPr sz="1250" b="0" dirty="0">
                <a:solidFill>
                  <a:srgbClr val="161616"/>
                </a:solidFill>
                <a:latin typeface="IBM Plex Sans"/>
              </a:rPr>
              <a:t>resiliency on top of open-source Airflow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 dirty="0">
                <a:solidFill>
                  <a:srgbClr val="161616"/>
                </a:solidFill>
                <a:latin typeface="IBM Plex Sans"/>
              </a:rPr>
              <a:t>•  Complements IBM </a:t>
            </a:r>
            <a:r>
              <a:rPr sz="1450" b="1" dirty="0" err="1">
                <a:solidFill>
                  <a:srgbClr val="161616"/>
                </a:solidFill>
                <a:latin typeface="IBM Plex Sans"/>
              </a:rPr>
              <a:t>Databand</a:t>
            </a:r>
            <a:r>
              <a:rPr sz="1450" b="1" dirty="0">
                <a:solidFill>
                  <a:srgbClr val="161616"/>
                </a:solidFill>
                <a:latin typeface="IBM Plex Sans"/>
              </a:rPr>
              <a:t> — </a:t>
            </a:r>
            <a:br>
              <a:rPr lang="de-DE" sz="1450" b="1" dirty="0">
                <a:solidFill>
                  <a:srgbClr val="161616"/>
                </a:solidFill>
                <a:latin typeface="IBM Plex Sans"/>
              </a:rPr>
            </a:br>
            <a:r>
              <a:rPr sz="1450" b="1" dirty="0">
                <a:solidFill>
                  <a:srgbClr val="161616"/>
                </a:solidFill>
                <a:latin typeface="IBM Plex Sans"/>
              </a:rPr>
              <a:t>observability that monitors Airflow,</a:t>
            </a:r>
            <a:br>
              <a:rPr lang="de-DE" sz="1450" b="1" dirty="0">
                <a:solidFill>
                  <a:srgbClr val="161616"/>
                </a:solidFill>
                <a:latin typeface="IBM Plex Sans"/>
              </a:rPr>
            </a:br>
            <a:r>
              <a:rPr sz="1450" b="1" dirty="0">
                <a:solidFill>
                  <a:srgbClr val="161616"/>
                </a:solidFill>
                <a:latin typeface="IBM Plex Sans"/>
              </a:rPr>
              <a:t> DataStage, and </a:t>
            </a:r>
            <a:r>
              <a:rPr sz="1450" b="1" dirty="0" err="1">
                <a:solidFill>
                  <a:srgbClr val="161616"/>
                </a:solidFill>
                <a:latin typeface="IBM Plex Sans"/>
              </a:rPr>
              <a:t>StreamSets</a:t>
            </a:r>
            <a:r>
              <a:rPr sz="1450" b="1" dirty="0">
                <a:solidFill>
                  <a:srgbClr val="161616"/>
                </a:solidFill>
                <a:latin typeface="IBM Plex Sans"/>
              </a:rPr>
              <a:t>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16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B490B9B-E896-83F2-4E52-976662EA7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790" y="-39668"/>
            <a:ext cx="5363453" cy="2828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EAF56A-83DC-260C-B1C9-449887CBA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998" y="3959342"/>
            <a:ext cx="7772400" cy="2320400"/>
          </a:xfrm>
          <a:prstGeom prst="rect">
            <a:avLst/>
          </a:prstGeom>
        </p:spPr>
      </p:pic>
      <p:pic>
        <p:nvPicPr>
          <p:cNvPr id="6" name="Picture 5" descr="airflow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7662" y="37012"/>
            <a:ext cx="802225" cy="309739"/>
          </a:xfrm>
          <a:prstGeom prst="rect">
            <a:avLst/>
          </a:prstGeom>
        </p:spPr>
      </p:pic>
      <p:pic>
        <p:nvPicPr>
          <p:cNvPr id="7" name="Picture 6" descr="astrono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5665" y="-39668"/>
            <a:ext cx="494682" cy="4946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dbt vs. Spark vs. DataStage vs. Confluent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95505"/>
              </p:ext>
            </p:extLst>
          </p:nvPr>
        </p:nvGraphicFramePr>
        <p:xfrm>
          <a:off x="502920" y="150876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tx1"/>
                          </a:solidFill>
                          <a:latin typeface="IBM Plex Sans"/>
                        </a:rPr>
                        <a:t>Dimension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dirty="0" err="1">
                          <a:solidFill>
                            <a:schemeClr val="tx1"/>
                          </a:solidFill>
                          <a:latin typeface="IBM Plex Sans"/>
                        </a:rPr>
                        <a:t>dbt</a:t>
                      </a:r>
                      <a:endParaRPr sz="1150" b="1" dirty="0">
                        <a:solidFill>
                          <a:schemeClr val="tx1"/>
                        </a:solidFill>
                        <a:latin typeface="IBM Plex Sans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tx1"/>
                          </a:solidFill>
                          <a:latin typeface="IBM Plex Sans"/>
                        </a:rPr>
                        <a:t>Spark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tx1"/>
                          </a:solidFill>
                          <a:latin typeface="IBM Plex Sans"/>
                        </a:rPr>
                        <a:t>DataStage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tx1"/>
                          </a:solidFill>
                          <a:latin typeface="IBM Plex Sans"/>
                        </a:rPr>
                        <a:t>Confluent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tx1"/>
                          </a:solidFill>
                          <a:latin typeface="IBM Plex Sans"/>
                        </a:rPr>
                        <a:t>Language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chemeClr val="tx1"/>
                          </a:solidFill>
                          <a:latin typeface="IBM Plex Sans"/>
                        </a:rPr>
                        <a:t>SQL + Jinja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chemeClr val="tx1"/>
                          </a:solidFill>
                          <a:latin typeface="IBM Plex Sans"/>
                        </a:rPr>
                        <a:t>Python (PySpark)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chemeClr val="tx1"/>
                          </a:solidFill>
                          <a:latin typeface="IBM Plex Sans"/>
                        </a:rPr>
                        <a:t>No-code visual canvas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chemeClr val="tx1"/>
                          </a:solidFill>
                          <a:latin typeface="IBM Plex Sans"/>
                        </a:rPr>
                        <a:t>Flink SQL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Batch or streaming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Batch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Batch</a:t>
                      </a:r>
                      <a: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/Stream</a:t>
                      </a:r>
                      <a:endParaRPr sz="1150" b="0" dirty="0">
                        <a:solidFill>
                          <a:srgbClr val="161616"/>
                        </a:solidFill>
                        <a:latin typeface="IBM Plex Sans"/>
                      </a:endParaRP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Batch</a:t>
                      </a:r>
                      <a: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/Stream</a:t>
                      </a:r>
                      <a:endParaRPr sz="1150" b="0" dirty="0">
                        <a:solidFill>
                          <a:srgbClr val="161616"/>
                        </a:solidFill>
                        <a:latin typeface="IBM Plex Sans"/>
                      </a:endParaRP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Streaming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Compute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Pushed to Presto</a:t>
                      </a:r>
                      <a: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/Spark</a:t>
                      </a:r>
                      <a:endParaRPr sz="1150" b="0" dirty="0">
                        <a:solidFill>
                          <a:srgbClr val="161616"/>
                        </a:solidFill>
                        <a:latin typeface="IBM Plex Sans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Spark cluster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Pushed to Presto
(lakehouse connector)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Flink cluster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Best for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SQL analytics engineering,
tests + lineage for free</a:t>
                      </a:r>
                      <a: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, </a:t>
                      </a:r>
                      <a:r>
                        <a:rPr lang="de-DE" sz="1150" b="0" dirty="0" err="1">
                          <a:solidFill>
                            <a:srgbClr val="161616"/>
                          </a:solidFill>
                          <a:latin typeface="IBM Plex Sans"/>
                        </a:rPr>
                        <a:t>starter</a:t>
                      </a:r>
                      <a:endParaRPr sz="1150" b="0" dirty="0">
                        <a:solidFill>
                          <a:srgbClr val="161616"/>
                        </a:solidFill>
                        <a:latin typeface="IBM Plex Sans"/>
                      </a:endParaRP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Heavy ETL, ML feature
prep, huge joins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Governed, audited,
visual ETL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Low-latency,
continuous pipelines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Cost model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Free &amp; open source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150" b="0" dirty="0" err="1">
                          <a:solidFill>
                            <a:srgbClr val="161616"/>
                          </a:solidFill>
                          <a:latin typeface="IBM Plex Sans"/>
                        </a:rPr>
                        <a:t>watsonx.data</a:t>
                      </a:r>
                      <a: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 Spark/Gluten</a:t>
                      </a:r>
                      <a:endParaRPr sz="1150" b="0" dirty="0">
                        <a:solidFill>
                          <a:srgbClr val="161616"/>
                        </a:solidFill>
                        <a:latin typeface="IBM Plex Sans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150" b="0" dirty="0" err="1">
                          <a:solidFill>
                            <a:srgbClr val="161616"/>
                          </a:solidFill>
                          <a:latin typeface="IBM Plex Sans"/>
                        </a:rPr>
                        <a:t>watsonx.data</a:t>
                      </a:r>
                      <a: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 </a:t>
                      </a:r>
                      <a:r>
                        <a:rPr lang="de-DE" sz="1150" b="0" dirty="0" err="1">
                          <a:solidFill>
                            <a:srgbClr val="161616"/>
                          </a:solidFill>
                          <a:latin typeface="IBM Plex Sans"/>
                        </a:rPr>
                        <a:t>integration</a:t>
                      </a:r>
                      <a: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 </a:t>
                      </a:r>
                      <a:b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</a:br>
                      <a:r>
                        <a:rPr lang="de-DE"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- RU Base</a:t>
                      </a:r>
                      <a:endParaRPr sz="1150" b="0" dirty="0">
                        <a:solidFill>
                          <a:srgbClr val="161616"/>
                        </a:solidFill>
                        <a:latin typeface="IBM Plex Sans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OSS self-hosted or
RU / Confluent Cloud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Learning curve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Low (SQL-first teams)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Higher (Spark APIs)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Low (visual)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161616"/>
                          </a:solidFill>
                          <a:latin typeface="IBM Plex Sans"/>
                        </a:rPr>
                        <a:t>Higher (streaming concepts)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17 /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dbt_transparent.png">
            <a:extLst>
              <a:ext uri="{FF2B5EF4-FFF2-40B4-BE49-F238E27FC236}">
                <a16:creationId xmlns:a16="http://schemas.microsoft.com/office/drawing/2014/main" id="{DE3BA2E1-2F5F-F679-50F0-B7F4CC68C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951" y="1552751"/>
            <a:ext cx="358345" cy="358345"/>
          </a:xfrm>
          <a:prstGeom prst="rect">
            <a:avLst/>
          </a:prstGeom>
        </p:spPr>
      </p:pic>
      <p:pic>
        <p:nvPicPr>
          <p:cNvPr id="10" name="Picture 9" descr="Try IBM DataStage on Cloud Pak for Data for free | IBM Cloud Pak for Data">
            <a:extLst>
              <a:ext uri="{FF2B5EF4-FFF2-40B4-BE49-F238E27FC236}">
                <a16:creationId xmlns:a16="http://schemas.microsoft.com/office/drawing/2014/main" id="{73669B92-B101-0D70-23A3-6B25AFF2F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919" y="1588986"/>
            <a:ext cx="411394" cy="411394"/>
          </a:xfrm>
          <a:prstGeom prst="rect">
            <a:avLst/>
          </a:prstGeom>
        </p:spPr>
      </p:pic>
      <p:pic>
        <p:nvPicPr>
          <p:cNvPr id="11" name="Picture 10" descr="spark_r.png">
            <a:extLst>
              <a:ext uri="{FF2B5EF4-FFF2-40B4-BE49-F238E27FC236}">
                <a16:creationId xmlns:a16="http://schemas.microsoft.com/office/drawing/2014/main" id="{E28141EA-FC4D-7543-FB67-571D7F782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810" y="1508760"/>
            <a:ext cx="792621" cy="411395"/>
          </a:xfrm>
          <a:prstGeom prst="rect">
            <a:avLst/>
          </a:prstGeom>
        </p:spPr>
      </p:pic>
      <p:pic>
        <p:nvPicPr>
          <p:cNvPr id="12" name="Picture 11" descr="confluent.png">
            <a:extLst>
              <a:ext uri="{FF2B5EF4-FFF2-40B4-BE49-F238E27FC236}">
                <a16:creationId xmlns:a16="http://schemas.microsoft.com/office/drawing/2014/main" id="{5827F518-3C8E-5F07-1C16-54CC3C2F5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933" y="1574379"/>
            <a:ext cx="411395" cy="4113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THE CONSTANT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Presto: The One Query Surface Across All Four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" cy="658368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dbt Gold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0"/>
            <a:ext cx="731520" cy="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2423160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4864" cy="6583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 Gold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0"/>
            <a:ext cx="731520" cy="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3246120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54864" cy="658368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DataStage Gold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0"/>
            <a:ext cx="731520" cy="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4069080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54864" cy="658368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879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Confluent Gold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0"/>
            <a:ext cx="731520" cy="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03320" y="224028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703320" y="2240280"/>
            <a:ext cx="54864" cy="13716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86200" y="2651760"/>
            <a:ext cx="24231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161616"/>
                </a:solidFill>
                <a:latin typeface="IBM Plex Sans"/>
              </a:rPr>
              <a:t>Presto</a:t>
            </a:r>
            <a:r>
              <a:rPr lang="de-DE" sz="1300" b="1" dirty="0">
                <a:solidFill>
                  <a:srgbClr val="161616"/>
                </a:solidFill>
                <a:latin typeface="IBM Plex Sans"/>
              </a:rPr>
              <a:t> / Presto C++ / GPU</a:t>
            </a:r>
            <a:endParaRPr sz="1300" b="1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86200" y="29260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Federated ANSI 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160020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12280" y="1600200"/>
            <a:ext cx="54864" cy="7772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5160" y="17190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BI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993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Cognos · Power BI · Tableau</a:t>
            </a:r>
          </a:p>
        </p:txBody>
      </p:sp>
      <p:cxnSp>
        <p:nvCxnSpPr>
          <p:cNvPr id="30" name="Connector 29"/>
          <p:cNvCxnSpPr>
            <a:cxnSpLocks/>
            <a:endCxn id="27" idx="1"/>
          </p:cNvCxnSpPr>
          <p:nvPr/>
        </p:nvCxnSpPr>
        <p:spPr>
          <a:xfrm flipV="1">
            <a:off x="6446520" y="1988820"/>
            <a:ext cx="365760" cy="93726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12280" y="3694657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12280" y="3694657"/>
            <a:ext cx="54864" cy="7772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3813529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Ad-hoc 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087849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Analysts, JDBC / ODBC</a:t>
            </a:r>
          </a:p>
        </p:txBody>
      </p:sp>
      <p:cxnSp>
        <p:nvCxnSpPr>
          <p:cNvPr id="35" name="Connector 34"/>
          <p:cNvCxnSpPr>
            <a:cxnSpLocks/>
            <a:stCxn id="21" idx="3"/>
            <a:endCxn id="32" idx="1"/>
          </p:cNvCxnSpPr>
          <p:nvPr/>
        </p:nvCxnSpPr>
        <p:spPr>
          <a:xfrm>
            <a:off x="6446520" y="2926080"/>
            <a:ext cx="365760" cy="1157197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2920" y="5806440"/>
            <a:ext cx="11185855" cy="5486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897880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dirty="0">
                <a:solidFill>
                  <a:srgbClr val="161616"/>
                </a:solidFill>
                <a:latin typeface="IBM Plex Sans"/>
              </a:rPr>
              <a:t>Prestissimo (Presto C++) is GA, ~2–3× faster than Presto Java — the same Velox substrate as Gluten-accelerated Spark.</a:t>
            </a:r>
            <a:br>
              <a:rPr lang="de-DE" sz="1250" b="1" dirty="0">
                <a:solidFill>
                  <a:srgbClr val="161616"/>
                </a:solidFill>
                <a:latin typeface="IBM Plex Sans"/>
              </a:rPr>
            </a:br>
            <a:r>
              <a:rPr lang="de-DE" sz="1250" b="1" dirty="0">
                <a:solidFill>
                  <a:srgbClr val="161616"/>
                </a:solidFill>
                <a:latin typeface="IBM Plex Sans"/>
              </a:rPr>
              <a:t>Tech Preview Nvidia GPU Query support</a:t>
            </a:r>
            <a:endParaRPr sz="1250" b="1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18 / 20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phic 40" descr="PrestoDB Logo">
            <a:extLst>
              <a:ext uri="{FF2B5EF4-FFF2-40B4-BE49-F238E27FC236}">
                <a16:creationId xmlns:a16="http://schemas.microsoft.com/office/drawing/2014/main" id="{F8B47E21-26B4-53A3-B5A5-BC2D7B2F09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79133" y="2239011"/>
            <a:ext cx="1278083" cy="403605"/>
          </a:xfrm>
          <a:prstGeom prst="rect">
            <a:avLst/>
          </a:prstGeom>
        </p:spPr>
      </p:pic>
      <p:cxnSp>
        <p:nvCxnSpPr>
          <p:cNvPr id="44" name="Connector 34">
            <a:extLst>
              <a:ext uri="{FF2B5EF4-FFF2-40B4-BE49-F238E27FC236}">
                <a16:creationId xmlns:a16="http://schemas.microsoft.com/office/drawing/2014/main" id="{230FF7DB-D31A-4C00-3E96-AA79C78A59CE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2468880" y="1929384"/>
            <a:ext cx="1234440" cy="996696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34">
            <a:extLst>
              <a:ext uri="{FF2B5EF4-FFF2-40B4-BE49-F238E27FC236}">
                <a16:creationId xmlns:a16="http://schemas.microsoft.com/office/drawing/2014/main" id="{7DBA63B1-60DB-2CB4-1F8B-370C3236A641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2468880" y="2752344"/>
            <a:ext cx="1234440" cy="173736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34">
            <a:extLst>
              <a:ext uri="{FF2B5EF4-FFF2-40B4-BE49-F238E27FC236}">
                <a16:creationId xmlns:a16="http://schemas.microsoft.com/office/drawing/2014/main" id="{33731882-3904-24E1-C895-7225E3DC7671}"/>
              </a:ext>
            </a:extLst>
          </p:cNvPr>
          <p:cNvCxnSpPr>
            <a:cxnSpLocks/>
            <a:stCxn id="13" idx="3"/>
            <a:endCxn id="22" idx="1"/>
          </p:cNvCxnSpPr>
          <p:nvPr/>
        </p:nvCxnSpPr>
        <p:spPr>
          <a:xfrm flipV="1">
            <a:off x="2468880" y="2926080"/>
            <a:ext cx="1234440" cy="649224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34">
            <a:extLst>
              <a:ext uri="{FF2B5EF4-FFF2-40B4-BE49-F238E27FC236}">
                <a16:creationId xmlns:a16="http://schemas.microsoft.com/office/drawing/2014/main" id="{2C61672E-D32D-8FB9-C386-C97D79AFD6FD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2468880" y="2926080"/>
            <a:ext cx="1234440" cy="1472184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FULL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Reference Architecture — All Four Paths, One Lakehouse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2821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dbt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64592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64592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Seeds/CSV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9533" y="164592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9533" y="164592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5947" y="164592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95947" y="164592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2361" y="164592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92361" y="164592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5973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Spark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237744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0" y="237744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Object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9533" y="237744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9533" y="237744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5947" y="237744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95947" y="237744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2361" y="237744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2361" y="237744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9125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DataStage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310896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03120" y="310896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Sources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9533" y="310896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9533" y="310896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95947" y="310896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95947" y="310896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2361" y="310896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92361" y="310896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92277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Confluent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384048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03120" y="4066737"/>
            <a:ext cx="228668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161616"/>
                </a:solidFill>
                <a:latin typeface="IBM Plex Sans"/>
              </a:rPr>
              <a:t>Kafka</a:t>
            </a:r>
            <a:r>
              <a:rPr lang="de-DE" sz="1100" b="1" dirty="0">
                <a:solidFill>
                  <a:srgbClr val="161616"/>
                </a:solidFill>
                <a:latin typeface="IBM Plex Sans"/>
              </a:rPr>
              <a:t>/Topic</a:t>
            </a:r>
            <a:endParaRPr sz="1100" b="1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499533" y="384048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99533" y="384048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Flink→Silver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95947" y="384048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95947" y="3840480"/>
            <a:ext cx="2286685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Gold (Spark/DS)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663440"/>
            <a:ext cx="11185855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4663440"/>
            <a:ext cx="54864" cy="10515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ceberg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82312"/>
            <a:ext cx="1024677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800" y="5074920"/>
            <a:ext cx="10865815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dirty="0" err="1">
                <a:solidFill>
                  <a:srgbClr val="161616"/>
                </a:solidFill>
                <a:latin typeface="IBM Plex Sans"/>
              </a:rPr>
              <a:t>watsonx.data</a:t>
            </a:r>
            <a:r>
              <a:rPr sz="1300" b="1" dirty="0">
                <a:solidFill>
                  <a:srgbClr val="161616"/>
                </a:solidFill>
                <a:latin typeface="IBM Plex Sans"/>
              </a:rPr>
              <a:t> — Iceberg Catalog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349240"/>
            <a:ext cx="108658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One catalog · queried by Presto · orchestrated by Airflow (batch) · consumed by BI &amp; 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19 / 20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85855" cy="349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200" b="1" dirty="0">
                <a:solidFill>
                  <a:srgbClr val="161616"/>
                </a:solidFill>
                <a:latin typeface="IBM Plex Sans"/>
              </a:rPr>
              <a:t>•  One governed Iceberg </a:t>
            </a:r>
            <a:r>
              <a:rPr sz="1200" b="1" dirty="0" err="1">
                <a:solidFill>
                  <a:srgbClr val="161616"/>
                </a:solidFill>
                <a:latin typeface="IBM Plex Sans"/>
              </a:rPr>
              <a:t>lakehouse</a:t>
            </a:r>
            <a:r>
              <a:rPr sz="1200" b="1" dirty="0">
                <a:solidFill>
                  <a:srgbClr val="161616"/>
                </a:solidFill>
                <a:latin typeface="IBM Plex Sans"/>
              </a:rPr>
              <a:t>, four ways in — pick the tool that fits your team, not the other way around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200" b="1" dirty="0">
                <a:solidFill>
                  <a:srgbClr val="161616"/>
                </a:solidFill>
                <a:latin typeface="IBM Plex Sans"/>
              </a:rPr>
              <a:t>•  </a:t>
            </a:r>
            <a:r>
              <a:rPr sz="12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sz="1200" b="1" dirty="0">
                <a:solidFill>
                  <a:srgbClr val="161616"/>
                </a:solidFill>
                <a:latin typeface="IBM Plex Sans"/>
              </a:rPr>
              <a:t> is free and SQL-first; Spark adds Python/ML muscle; DataStage adds no-code governance</a:t>
            </a:r>
            <a:r>
              <a:rPr lang="de-DE" sz="1200" b="1" dirty="0">
                <a:solidFill>
                  <a:srgbClr val="161616"/>
                </a:solidFill>
                <a:latin typeface="IBM Plex Sans"/>
              </a:rPr>
              <a:t> easy </a:t>
            </a:r>
            <a:r>
              <a:rPr lang="de-DE" sz="1200" b="1" dirty="0" err="1">
                <a:solidFill>
                  <a:srgbClr val="161616"/>
                </a:solidFill>
                <a:latin typeface="IBM Plex Sans"/>
              </a:rPr>
              <a:t>for</a:t>
            </a:r>
            <a:r>
              <a:rPr lang="de-DE" sz="1200" b="1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de-DE" sz="1200" b="1" dirty="0" err="1">
                <a:solidFill>
                  <a:srgbClr val="161616"/>
                </a:solidFill>
                <a:latin typeface="IBM Plex Sans"/>
              </a:rPr>
              <a:t>onboarding</a:t>
            </a:r>
            <a:r>
              <a:rPr sz="1200" b="1" dirty="0">
                <a:solidFill>
                  <a:srgbClr val="161616"/>
                </a:solidFill>
                <a:latin typeface="IBM Plex Sans"/>
              </a:rPr>
              <a:t>; Confluent adds real-time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200" b="1" dirty="0">
                <a:solidFill>
                  <a:srgbClr val="161616"/>
                </a:solidFill>
                <a:latin typeface="IBM Plex Sans"/>
              </a:rPr>
              <a:t>•  The industry — Databricks, Snowflake — is converging on the same event-driven pattern Confluent already delivers here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200" b="1" dirty="0">
                <a:solidFill>
                  <a:srgbClr val="161616"/>
                </a:solidFill>
                <a:latin typeface="IBM Plex Sans"/>
              </a:rPr>
              <a:t>•  Presto is the constant: one federated query surface over everything, for every BI tool and analyst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•  </a:t>
            </a:r>
            <a:r>
              <a:rPr sz="1200" b="1" dirty="0">
                <a:solidFill>
                  <a:srgbClr val="161616"/>
                </a:solidFill>
                <a:latin typeface="IBM Plex Sans"/>
              </a:rPr>
              <a:t>Orchestration matures too: open-source Airflow today, </a:t>
            </a:r>
            <a:r>
              <a:rPr lang="de-DE" sz="1200" b="1" dirty="0">
                <a:solidFill>
                  <a:srgbClr val="161616"/>
                </a:solidFill>
                <a:latin typeface="IBM Plex Sans"/>
              </a:rPr>
              <a:t>OEM </a:t>
            </a:r>
            <a:r>
              <a:rPr sz="1200" b="1" dirty="0">
                <a:solidFill>
                  <a:srgbClr val="161616"/>
                </a:solidFill>
                <a:latin typeface="IBM Plex Sans"/>
              </a:rPr>
              <a:t>Astronomer’s enterprise layer when you need it</a:t>
            </a:r>
            <a:endParaRPr lang="de-DE" sz="1200" b="1" dirty="0">
              <a:solidFill>
                <a:srgbClr val="161616"/>
              </a:solidFill>
              <a:latin typeface="IBM Plex Sans"/>
            </a:endParaRP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•  start with </a:t>
            </a:r>
            <a:r>
              <a:rPr lang="en-US" sz="12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 or </a:t>
            </a:r>
            <a:r>
              <a:rPr lang="en-US" sz="1200" b="1" dirty="0" err="1">
                <a:solidFill>
                  <a:srgbClr val="161616"/>
                </a:solidFill>
                <a:latin typeface="IBM Plex Sans"/>
              </a:rPr>
              <a:t>Datastage</a:t>
            </a: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 (easy to adopt by teams, using AI Agents for </a:t>
            </a:r>
            <a:r>
              <a:rPr lang="en-US" sz="12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 or </a:t>
            </a:r>
            <a:r>
              <a:rPr lang="en-US" sz="1200" b="1" dirty="0" err="1">
                <a:solidFill>
                  <a:srgbClr val="161616"/>
                </a:solidFill>
                <a:latin typeface="IBM Plex Sans"/>
              </a:rPr>
              <a:t>watsonx.data</a:t>
            </a: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 integration)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endParaRPr lang="en-US" sz="1200" b="1" dirty="0">
              <a:solidFill>
                <a:srgbClr val="161616"/>
              </a:solidFill>
              <a:latin typeface="IBM Plex Sans"/>
            </a:endParaRP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• Upsell </a:t>
            </a:r>
            <a:r>
              <a:rPr lang="en-US" sz="1200" b="1" dirty="0" err="1">
                <a:solidFill>
                  <a:srgbClr val="161616"/>
                </a:solidFill>
                <a:latin typeface="IBM Plex Sans"/>
              </a:rPr>
              <a:t>Databand</a:t>
            </a: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 (</a:t>
            </a:r>
            <a:r>
              <a:rPr lang="en-US" sz="1200" b="1" dirty="0" err="1">
                <a:solidFill>
                  <a:srgbClr val="161616"/>
                </a:solidFill>
                <a:latin typeface="IBM Plex Sans"/>
              </a:rPr>
              <a:t>watsonx.data</a:t>
            </a: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 integration, to observe, </a:t>
            </a:r>
            <a:r>
              <a:rPr lang="en-US" sz="1200" b="1" dirty="0" err="1">
                <a:solidFill>
                  <a:srgbClr val="161616"/>
                </a:solidFill>
                <a:latin typeface="IBM Plex Sans"/>
              </a:rPr>
              <a:t>dbt</a:t>
            </a: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, Airflow, Python, </a:t>
            </a:r>
            <a:r>
              <a:rPr lang="en-US" sz="1200" b="1" dirty="0" err="1">
                <a:solidFill>
                  <a:srgbClr val="161616"/>
                </a:solidFill>
                <a:latin typeface="IBM Plex Sans"/>
              </a:rPr>
              <a:t>Datastage</a:t>
            </a:r>
            <a:r>
              <a:rPr lang="en-US" sz="1200" b="1" dirty="0">
                <a:solidFill>
                  <a:srgbClr val="161616"/>
                </a:solidFill>
                <a:latin typeface="IBM Plex Sans"/>
              </a:rPr>
              <a:t>, Spark, ….)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endParaRPr sz="1200" b="1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11185855" cy="914400"/>
          </a:xfrm>
          <a:prstGeom prst="roundRect">
            <a:avLst>
              <a:gd name="adj" fmla="val 10000"/>
            </a:avLst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23951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45775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dirty="0">
                <a:solidFill>
                  <a:srgbClr val="FFFFFF"/>
                </a:solidFill>
                <a:latin typeface="IBM Plex Sans"/>
              </a:rPr>
              <a:t>Try any path yourself in the workshop repo — questions welcome anytime.</a:t>
            </a:r>
            <a:br>
              <a:rPr lang="de-DE" sz="1450" dirty="0">
                <a:solidFill>
                  <a:srgbClr val="FFFFFF"/>
                </a:solidFill>
                <a:latin typeface="IBM Plex Sans"/>
              </a:rPr>
            </a:br>
            <a:r>
              <a:rPr lang="de-DE" sz="1450" dirty="0">
                <a:solidFill>
                  <a:srgbClr val="FFFFFF"/>
                </a:solidFill>
                <a:latin typeface="IBM Plex Sans"/>
              </a:rPr>
              <a:t>https://</a:t>
            </a:r>
            <a:r>
              <a:rPr lang="de-DE" sz="1450" dirty="0" err="1">
                <a:solidFill>
                  <a:srgbClr val="FFFFFF"/>
                </a:solidFill>
                <a:latin typeface="IBM Plex Sans"/>
              </a:rPr>
              <a:t>aseelert.github.io</a:t>
            </a:r>
            <a:r>
              <a:rPr lang="de-DE" sz="1450" dirty="0">
                <a:solidFill>
                  <a:srgbClr val="FFFFFF"/>
                </a:solidFill>
                <a:latin typeface="IBM Plex Sans"/>
              </a:rPr>
              <a:t>/</a:t>
            </a:r>
            <a:r>
              <a:rPr lang="de-DE" sz="1450" dirty="0" err="1">
                <a:solidFill>
                  <a:srgbClr val="FFFFFF"/>
                </a:solidFill>
                <a:latin typeface="IBM Plex Sans"/>
              </a:rPr>
              <a:t>ibmas-watsonxdata-dbt</a:t>
            </a:r>
            <a:endParaRPr sz="1450" b="0" dirty="0">
              <a:solidFill>
                <a:srgbClr val="FFFFFF"/>
              </a:solidFill>
              <a:latin typeface="IBM Plex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72200"/>
            <a:ext cx="1118585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dirty="0">
                <a:solidFill>
                  <a:srgbClr val="8D8D8D"/>
                </a:solidFill>
                <a:latin typeface="IBM Plex Sans"/>
              </a:rPr>
              <a:t>Alexander Seelert  ·  IBM Customer Success Engineer  ·  alexander</a:t>
            </a:r>
            <a:r>
              <a:rPr lang="de-DE" sz="1150" b="0" dirty="0">
                <a:solidFill>
                  <a:srgbClr val="8D8D8D"/>
                </a:solidFill>
                <a:latin typeface="IBM Plex Sans"/>
              </a:rPr>
              <a:t>@</a:t>
            </a:r>
            <a:r>
              <a:rPr lang="de-DE" sz="1150" b="0" dirty="0" err="1">
                <a:solidFill>
                  <a:srgbClr val="8D8D8D"/>
                </a:solidFill>
                <a:latin typeface="IBM Plex Sans"/>
              </a:rPr>
              <a:t>de.ibm.com</a:t>
            </a:r>
            <a:endParaRPr sz="1150" b="0" dirty="0">
              <a:solidFill>
                <a:srgbClr val="8D8D8D"/>
              </a:solidFill>
              <a:latin typeface="IBM Plex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20 / 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5583</TotalTime>
  <Words>2771</Words>
  <Application>Microsoft Macintosh PowerPoint</Application>
  <PresentationFormat>Widescreen</PresentationFormat>
  <Paragraphs>378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Seelert</cp:lastModifiedBy>
  <cp:revision>75</cp:revision>
  <dcterms:created xsi:type="dcterms:W3CDTF">2013-01-27T09:14:16Z</dcterms:created>
  <dcterms:modified xsi:type="dcterms:W3CDTF">2026-07-06T06:27:25Z</dcterms:modified>
  <cp:category/>
</cp:coreProperties>
</file>