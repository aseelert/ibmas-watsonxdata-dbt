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62FE"/>
                </a:solidFill>
                <a:latin typeface="IBM Plex Sans"/>
              </a:rPr>
              <a:t>IBM WATSONX.DATA · CUSTOMER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>
                <a:solidFill>
                  <a:srgbClr val="161616"/>
                </a:solidFill>
                <a:latin typeface="IBM Plex Sans"/>
              </a:rPr>
              <a:t>One Lakehouse,
Four Paths to the Medallion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29000"/>
            <a:ext cx="640080" cy="508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584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525252"/>
                </a:solidFill>
                <a:latin typeface="IBM Plex Sans"/>
              </a:rPr>
              <a:t>dbt · Spark · DataStage · Confluent  —  Bronze → Silver → Gold on Apache Iceberg</a:t>
            </a:r>
          </a:p>
        </p:txBody>
      </p:sp>
      <p:pic>
        <p:nvPicPr>
          <p:cNvPr id="7" name="Picture 6" descr="ibm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91" y="4709160"/>
            <a:ext cx="1102539" cy="411395"/>
          </a:xfrm>
          <a:prstGeom prst="rect">
            <a:avLst/>
          </a:prstGeom>
        </p:spPr>
      </p:pic>
      <p:pic>
        <p:nvPicPr>
          <p:cNvPr id="8" name="Picture 7" descr="dbt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849" y="4709160"/>
            <a:ext cx="411395" cy="411395"/>
          </a:xfrm>
          <a:prstGeom prst="rect">
            <a:avLst/>
          </a:prstGeom>
        </p:spPr>
      </p:pic>
      <p:pic>
        <p:nvPicPr>
          <p:cNvPr id="9" name="Picture 8" descr="spark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164" y="4709160"/>
            <a:ext cx="792621" cy="411395"/>
          </a:xfrm>
          <a:prstGeom prst="rect">
            <a:avLst/>
          </a:prstGeom>
        </p:spPr>
      </p:pic>
      <p:pic>
        <p:nvPicPr>
          <p:cNvPr id="10" name="Picture 9" descr="conflu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705" y="4709160"/>
            <a:ext cx="411395" cy="411395"/>
          </a:xfrm>
          <a:prstGeom prst="rect">
            <a:avLst/>
          </a:prstGeom>
        </p:spPr>
      </p:pic>
      <p:pic>
        <p:nvPicPr>
          <p:cNvPr id="11" name="Picture 10" descr="kafka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020" y="4709160"/>
            <a:ext cx="253694" cy="411395"/>
          </a:xfrm>
          <a:prstGeom prst="rect">
            <a:avLst/>
          </a:prstGeom>
        </p:spPr>
      </p:pic>
      <p:pic>
        <p:nvPicPr>
          <p:cNvPr id="12" name="Picture 11" descr="flink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633" y="4709160"/>
            <a:ext cx="840617" cy="411395"/>
          </a:xfrm>
          <a:prstGeom prst="rect">
            <a:avLst/>
          </a:prstGeom>
        </p:spPr>
      </p:pic>
      <p:pic>
        <p:nvPicPr>
          <p:cNvPr id="13" name="Picture 12" descr="iceberg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170" y="4709160"/>
            <a:ext cx="1773112" cy="411395"/>
          </a:xfrm>
          <a:prstGeom prst="rect">
            <a:avLst/>
          </a:prstGeom>
        </p:spPr>
      </p:pic>
      <p:pic>
        <p:nvPicPr>
          <p:cNvPr id="14" name="Picture 13" descr="presto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202" y="4709160"/>
            <a:ext cx="914668" cy="411395"/>
          </a:xfrm>
          <a:prstGeom prst="rect">
            <a:avLst/>
          </a:prstGeom>
        </p:spPr>
      </p:pic>
      <p:pic>
        <p:nvPicPr>
          <p:cNvPr id="15" name="Picture 14" descr="airflow_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4790" y="4709160"/>
            <a:ext cx="1065513" cy="4113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D8D8D"/>
                </a:solidFill>
                <a:latin typeface="IBM Plex Sans"/>
              </a:rPr>
              <a:t>Alexander Seelert  ·  IBM Customer Success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5575" y="62636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D8D8D"/>
                </a:solidFill>
                <a:latin typeface="IBM Plex Sans"/>
              </a:rPr>
              <a:t>watsonx.data 5.4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SESSION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What We’ll Cover —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58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The medallion pattern (Bronze → Silver → Gold) — why nearly every serious lakehouse is built this way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Four ways to build it on watsonx.data: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–  dbt — SQL-first, free &amp; open source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–  Spark — Python, ML-ready, two engine flavors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–  DataStage — no-code, governed, visual ETL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–  Confluent — Kafka + Flink, event-driven streaming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Two concrete use-case lenses: Spark for ML / feature engineering vs. Presto for interactive analytics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Why Databricks and Snowflake are both racing toward event-driven ingestion right now — and how Confluent Tableflow already does it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Orchestration: open-source Airflow, and IBM’s OEM partnership with Astronomer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61616"/>
                </a:solidFill>
                <a:latin typeface="IBM Plex Sans"/>
              </a:rPr>
              <a:t>•  A side-by-side comparison so you can pick the right tool for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02 /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Why Bronze → Silver → Gold?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525252"/>
                </a:solidFill>
                <a:latin typeface="IBM Plex San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92808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Raw source data is messy, duplicated, and ungoverned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BI dashboards and ML models cannot trust it directly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Every team re-invents its own cleaning logic — numbers disagree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The medallion pattern gives every layer one job, and one 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08760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508760"/>
            <a:ext cx="54864" cy="12344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27632"/>
            <a:ext cx="5379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5379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Land the truth, unmodified &amp; replayable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907792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907792"/>
            <a:ext cx="54864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026664"/>
            <a:ext cx="5379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300984"/>
            <a:ext cx="5379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Clean, conformed, joined — one shared definition of “an order”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306824"/>
            <a:ext cx="569945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4306824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425696"/>
            <a:ext cx="5379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700016"/>
            <a:ext cx="5379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Business-ready aggregates — the numbers everyone reports from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Each layer is a physical or logical Apache Iceberg table on open object storage — no vendor lock-in.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03 / 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The Medallion Pattern on an Iceberg 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417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4864" cy="137160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CSVs · DBs ·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96596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9736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9736" y="1965960"/>
            <a:ext cx="54864" cy="137160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084832"/>
            <a:ext cx="17443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359152"/>
            <a:ext cx="17443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raw, as-is, replayable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3874" y="196596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642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3642" y="1965960"/>
            <a:ext cx="54864" cy="13716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6522" y="2084832"/>
            <a:ext cx="17443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6522" y="2359152"/>
            <a:ext cx="17443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clean · conformed · joined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780" y="196596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7548" y="1965960"/>
            <a:ext cx="206441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67548" y="1965960"/>
            <a:ext cx="54864" cy="13716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0428" y="2084832"/>
            <a:ext cx="17443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0428" y="2359152"/>
            <a:ext cx="17443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aggregated business marts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1687" y="196596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71455" y="1965960"/>
            <a:ext cx="1417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71455" y="1965960"/>
            <a:ext cx="54864" cy="13716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54335" y="20848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CONSUMERS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235915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BI · ML · apps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4048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050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IBM Plex Sans"/>
              </a:rPr>
              <a:t>ALL THREE LAYERS LIVE IN ONE 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315968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•  Apache Iceberg tables, Parquet format, on MinIO / S3 object storage — one shared catalog (iceberg_data)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•  Storage and compute are decoupled — Presto, Spark, and Flink can all read or write the same tables, at the same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04 / 20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watsonx.data: One Catalog, Many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41367" y="3200400"/>
            <a:ext cx="31089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41367" y="3200400"/>
            <a:ext cx="54864" cy="11887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eberg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3319272"/>
            <a:ext cx="1024677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4247" y="361188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Iceberg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3886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iceberg_data · Parquet · MinIO / 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327" y="18973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2327" y="189738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est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2016252"/>
            <a:ext cx="52858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207" y="230886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25831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Interactive SQL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8327.5" y="2857500.0"/>
            <a:ext cx="1463040.0" cy="34290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13367" y="18973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13367" y="1897380"/>
            <a:ext cx="54864" cy="96012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016252"/>
            <a:ext cx="458053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96247" y="230886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(Gluten)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247" y="25831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ETL + ML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50327.5" y="2857500.0"/>
            <a:ext cx="1463040.0" cy="34290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2327" y="473202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327" y="4732020"/>
            <a:ext cx="54864" cy="96012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ink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07" y="4850892"/>
            <a:ext cx="485790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5207" y="514350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Flink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207" y="54178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Streaming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078327.5" y="4389120.0"/>
            <a:ext cx="1463040.0" cy="34290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13367" y="473202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3367" y="4732020"/>
            <a:ext cx="54864" cy="96012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6247" y="4850892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6247" y="5125212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No-code ETL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650327.5" y="4389120.0"/>
            <a:ext cx="1463040.0" cy="34290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25252"/>
                </a:solidFill>
                <a:latin typeface="IBM Plex Sans"/>
              </a:rPr>
              <a:t>Every engine is a peer — the table format (Iceberg / Parquet, never ORC) is the single source of truth.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05 / 20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THE FOUR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Four Ways In, One Medallion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864" cy="182880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051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103120"/>
            <a:ext cx="2339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39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3971" y="3657600"/>
            <a:ext cx="457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03" y="1691640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5103" y="1691640"/>
            <a:ext cx="54864" cy="18288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par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983" y="1810512"/>
            <a:ext cx="458053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27983" y="2103120"/>
            <a:ext cx="2339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2377440"/>
            <a:ext cx="2339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7983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6155" y="3657600"/>
            <a:ext cx="457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1691640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1691640"/>
            <a:ext cx="54864" cy="18288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1810512"/>
            <a:ext cx="2339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084832"/>
            <a:ext cx="2339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batch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167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No-Code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8339" y="3657600"/>
            <a:ext cx="457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9471" y="1691640"/>
            <a:ext cx="2659303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471" y="1691640"/>
            <a:ext cx="54864" cy="18288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nflu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351" y="1810512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12351" y="2103120"/>
            <a:ext cx="2339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Confluent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351" y="2377440"/>
            <a:ext cx="2339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streaming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12351" y="2743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Streaming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0523" y="3657600"/>
            <a:ext cx="457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02336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023360"/>
            <a:ext cx="54864" cy="9144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42232"/>
            <a:ext cx="108658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Identical Gold Marts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416552"/>
            <a:ext cx="10865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confluent_demo_gold · dbt_demo_gold · spark_demo_gold — same rows, same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6636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25252"/>
                </a:solidFill>
                <a:latin typeface="IBM Plex Sans"/>
              </a:rPr>
              <a:t>Proven by row-level reconciliation across all three full pipelines — pick the tool that fits the team, not the other way around.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06 / 20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SQL-First, Free &amp; 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b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00200"/>
            <a:ext cx="9692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dbt Core is Apache 2.0 licensed — completely free, no seat cost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dbt Cloud (managed CI/CD, scheduling, IDE) is the optional paid layer on top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June 2026: the Rust-based “dbt Fusion” engine was folded into dbt Core as “dbt Core v2” — still fully open source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IBM invests directly in the dbt ecosystem — three official adapters: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dbt-watsonx-presto — what this project uses; table/view materializations, compute pushed to Presto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dbt-watsonx-spark — run dbt transformations directly on the watsonx.data Spark engine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db2-dbt — new (Apache 2.0) — dbt now reaches Db2 on IBM platforms too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Compute is pushed down: dbt only compiles + orchestrates SQL — nothing runs on your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832B"/>
                </a:solidFill>
                <a:latin typeface="IBM Plex Sans"/>
              </a:rPr>
              <a:t>PATH A —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Anatomy of a dbt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367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$ tree  —  this repo’s dbt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92808"/>
            <a:ext cx="3566160" cy="3986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dbt_project.yml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models/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FFB87A"/>
                </a:solidFill>
                <a:latin typeface="IBM Plex Mono"/>
              </a:rPr>
              <a:t>  bronze/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bronze_orders.sql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bronze_sources.yml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  silver/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silver_sales_enriched.sql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schema.yml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  gold/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gold_daily_sales.sql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  schema.yml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seeds/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raw_orders.csv  (+3 more)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macros/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B0B0B0"/>
                </a:solidFill>
                <a:latin typeface="IBM Plex Mono"/>
              </a:rPr>
              <a:t>  generate_schema_name.sql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08760"/>
            <a:ext cx="6933895" cy="21488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1636776"/>
            <a:ext cx="6568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Bronze — land it 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892808"/>
            <a:ext cx="6568135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7AB060"/>
                </a:solidFill>
                <a:latin typeface="IBM Plex Mono"/>
              </a:rPr>
              <a:t>-- models/bronze/bronze_orders.sql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select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order_id, customer_id, order_ts, status,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payment_method, current_timestamp as _ingested_at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from {{ ref('raw_orders')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840480"/>
            <a:ext cx="6933895" cy="21488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3968496"/>
            <a:ext cx="6568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DD3FF"/>
                </a:solidFill>
                <a:latin typeface="IBM Plex Mono"/>
              </a:rPr>
              <a:t>Gold — the business aggregate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4224528"/>
            <a:ext cx="6568135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7AB060"/>
                </a:solidFill>
                <a:latin typeface="IBM Plex Mono"/>
              </a:rPr>
              <a:t>-- models/gold/gold_daily_sales.sql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{{ config(materialized='table',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9AE68C"/>
                </a:solidFill>
                <a:latin typeface="IBM Plex Mono"/>
              </a:rPr>
              <a:t>    properties={'format': "'PARQUET'"}) }}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select order_date, category,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count(distinct order_id) as order_count,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  sum(net_amount) as net_revenue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8DD3FF"/>
                </a:solidFill>
                <a:latin typeface="IBM Plex Mono"/>
              </a:rPr>
              <a:t>from {{ ref('silver_sales_enriched') }}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>
                <a:solidFill>
                  <a:srgbClr val="E0E0E0"/>
                </a:solidFill>
                <a:latin typeface="IBM Plex Mono"/>
              </a:rPr>
              <a:t>where status = 'completed' group by 1,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08 / 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PATH B —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Two Engines, One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246888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58053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20240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(Java)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9528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Traditional JVM execution — the classic open-source Spark engine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Full ecosystem compatibility, general-purpose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508760"/>
            <a:ext cx="5410047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508760"/>
            <a:ext cx="54864" cy="24688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7" y="1627632"/>
            <a:ext cx="458053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1607" y="1920240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Apache Gluten-Accelerated 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194560"/>
            <a:ext cx="50900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77440"/>
            <a:ext cx="49528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Offloads SparkSQL execution to Velox (open-source C++ engine — Meta / Uber / Intel / IBM)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Fully API-compatible — no code changes to your PySpark jobs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Lower cost per query; hash-joins by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85855" cy="17373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F62FE"/>
                </a:solidFill>
                <a:latin typeface="IBM Plex Sans"/>
              </a:rPr>
              <a:t>SAME VELOX SUBSTRATE, ACROSS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•  Presto C++ (Prestissimo) shares the same Velox core — GA, ~2–3× over Presto Java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•  Gluten’s own 2023 benchmark: workload-dependent speedups (directional, not a current-day SLA)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•  GPU acceleration for Presto C++ (NVIDIA cuDF) is a PRIVATE TECHNICAL PREVIEW — not GA, not a “Premium” 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09 / 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PATH B —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When to Reach for Spark vs. Presto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458053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20240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— build &amp;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900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PySpark, Python-first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13572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ML feature engineering at scale — windowing, aggregations across billions of rows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MLlib pipelines — train and score models directly against Iceberg tables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Custom Python / pandas UDFs for logic SQL can’t express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Messy or semi-structured parsing (JSON, nested, multi-format)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Structured Streaming for continuous batch-style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08760"/>
            <a:ext cx="541004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508760"/>
            <a:ext cx="54864" cy="9601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est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7" y="1627632"/>
            <a:ext cx="52858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1607" y="1920240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Presto — ask &amp;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194560"/>
            <a:ext cx="50900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Federated interactive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651760"/>
            <a:ext cx="513572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Ad-hoc, governed SQL over the same Iceberg tables — no cluster to spin up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BI tool connectivity via JDBC / ODBC — Cognos, Power BI, Tableau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Sub-second to low-second latency for dashboards and analysts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One federated query surface across every engine’s output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Prestissimo (Presto C++) — GA, ~2–3× faster than Presto 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Same Iceberg tables, two access patterns: engineer features in Spark, then query and report in Presto.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10 / 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3FFC"/>
                </a:solidFill>
                <a:latin typeface="IBM Plex Sans"/>
              </a:rPr>
              <a:t>PATH C — DATASTAGE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No-Code, Governed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9875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Visual canvas — build bronze → silver → gold with zero SQL or Python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Talks to watsonx.data through the lakehouse connector — SQL pushdown straight to the Presto engine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read_mode: select + select_statement on the source side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–  table_action: replace on the target side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Built entirely via REST API in this project — no DataStage SDK required; flows are created as CAMS assets in a Cloud Pak for Data project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Part of watsonx.data Integration — alongside StreamSets, Data Replication (CDC), UDI, and Databand observability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161616"/>
                </a:solidFill>
                <a:latin typeface="IBM Plex Sans"/>
              </a:rPr>
              <a:t>•  Proven in this project: DataStage flows reproduce the exact same 13 dbt models — gold sums match to the 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06440"/>
            <a:ext cx="11185855" cy="5486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07024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Best for teams that standardize on a governed, audited, visual ETL tool — the business logic is identical to dbt/Spark, just no code to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11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07D79"/>
                </a:solidFill>
                <a:latin typeface="IBM Plex Sans"/>
              </a:rPr>
              <a:t>PATH D — CONFLUENT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Streaming, Not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1624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6245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CSV/DB rows → Avro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483" y="182880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3243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3243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afka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123" y="1947672"/>
            <a:ext cx="146609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96123" y="2240280"/>
            <a:ext cx="1624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Kafka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6123" y="2514600"/>
            <a:ext cx="16245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governed by Schema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7806" y="182880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3566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3566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46" y="1947672"/>
            <a:ext cx="485790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06446" y="2240280"/>
            <a:ext cx="1624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Apache Flink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46" y="2514600"/>
            <a:ext cx="16245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continuous SQL, 9 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129" y="182880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3889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33889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eberg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769" y="1947672"/>
            <a:ext cx="1024677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16769" y="2240280"/>
            <a:ext cx="1624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Iceberg Sink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769" y="2514600"/>
            <a:ext cx="16245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watsonx.data catalog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8452" y="182880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44212" y="1828800"/>
            <a:ext cx="194456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44212" y="1828800"/>
            <a:ext cx="54864" cy="114300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7092" y="1947672"/>
            <a:ext cx="1624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Gold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7092" y="2221992"/>
            <a:ext cx="16245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Spark or DataStage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429000"/>
            <a:ext cx="111858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>
                <a:solidFill>
                  <a:srgbClr val="161616"/>
                </a:solidFill>
                <a:latin typeface="IBM Plex Sans"/>
              </a:rPr>
              <a:t>•  Bronze becomes a replayable event log (Kafka topic), not a static table — rewind and reprocess anytime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>
                <a:solidFill>
                  <a:srgbClr val="161616"/>
                </a:solidFill>
                <a:latin typeface="IBM Plex Sans"/>
              </a:rPr>
              <a:t>•  Schema Registry (Avro) is streaming’s version of dbt tests — a bad message is rejected at the gate, not discovered downstream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>
                <a:solidFill>
                  <a:srgbClr val="161616"/>
                </a:solidFill>
                <a:latin typeface="IBM Plex Sans"/>
              </a:rPr>
              <a:t>•  Silver updates seconds after data happens — not on tomorrow’s batch schedule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0">
                <a:solidFill>
                  <a:srgbClr val="161616"/>
                </a:solidFill>
                <a:latin typeface="IBM Plex Sans"/>
              </a:rPr>
              <a:t>•  Same destination as dbt and Spark: identical confluent_demo_gold marts, reconciled row-for-row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12 / 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07D79"/>
                </a:solidFill>
                <a:latin typeface="IBM Plex Sans"/>
              </a:rPr>
              <a:t>PATH D — CONFLUENT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Tableflow: Kafka Topics Become Tables — Zero 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4922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GA March 2025 for Iceberg; GA October 2025 for Delta Lake / Databricks Unity Catalog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One checkbox on a topic — automatic schematization, type conversion, schema evolution, file compaction, catalog publishing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Queryable by any engine — Snowflake, Databricks, BigQuery, Trino/Presto — without copying data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61616"/>
                </a:solidFill>
                <a:latin typeface="IBM Plex Sans"/>
              </a:rPr>
              <a:t>•  In Confluent’s own words: Flink output is “the equivalent of Silver level data… mapped into Gold level data products”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Confluent Cloud only — no on-prem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4373575" cy="42062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691640"/>
            <a:ext cx="3916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7D79"/>
                </a:solidFill>
                <a:latin typeface="IBM Plex Sans"/>
              </a:rPr>
              <a:t>THIS WORKSHOP’S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9163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61616"/>
                </a:solidFill>
                <a:latin typeface="IBM Plex Sans"/>
              </a:rPr>
              <a:t>We demonstrate the same pattern self-hosted: Kafka (KRaft) + Schema Registry + 9 Flink SQL jobs + a self-hosted Iceberg REST catalog + register_table into the watsonx.data catalog — Tableflow automates exactly this on Confluent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13 / 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3FFC"/>
                </a:solidFill>
                <a:latin typeface="IBM Plex Sans"/>
              </a:rPr>
              <a:t>INDUSTRY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IBM Plex Sans"/>
              </a:rPr>
              <a:t>Batch Is No Longer the Default — Even for Databricks &amp;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10047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6858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Databricks Lakeflow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3572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Lakeflow Connect — 100+ managed connectors, incl. streaming / message-bus sources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Real-Time Mode (Public Preview) — end-to-end latency as low as ~5ms for fraud detection, personalization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Zerobus Ingest — no message bus needed, writes land in under 5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08760"/>
            <a:ext cx="5410047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08760"/>
            <a:ext cx="54864" cy="685800"/>
          </a:xfrm>
          <a:prstGeom prst="rect">
            <a:avLst/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27632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Snowflake Openflow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377440"/>
            <a:ext cx="513572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Built on open-source Apache NiFi (from the 2024 Datavolo acquisition) — GA 2025 on AWS BYOC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Openflow Connector for Kafka — reads topics directly into Snowflake tables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 b="0">
                <a:solidFill>
                  <a:srgbClr val="161616"/>
                </a:solidFill>
                <a:latin typeface="IBM Plex Sans"/>
              </a:rPr>
              <a:t>•  Redesigned Snowpipe Streaming — vendor-reported up to 10 GB/s, ~5-second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23560"/>
            <a:ext cx="11185855" cy="71323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42432"/>
            <a:ext cx="107286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The two biggest cloud data warehouses are both racing toward the same Kafka-native, low-latency pattern this workshop’s Confluent path already runs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14 / 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Batch vs. Event-Driven, Mechanically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7190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Scheduled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933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(cron / hourly / nightly)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6663" y="16002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6703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6703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9583" y="17190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Full or incremental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9583" y="19933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table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367" y="16002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7407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47407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0287" y="17190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287" y="19933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(SQL / PySpark)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071" y="16002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D8D8D"/>
                </a:solidFill>
                <a:latin typeface="IBM Plex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8111" y="16002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78111" y="1600200"/>
            <a:ext cx="54864" cy="123444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0991" y="17190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Write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0991" y="19933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then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907792"/>
            <a:ext cx="9631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D8D8D"/>
                </a:solidFill>
                <a:latin typeface="IBM Plex Sans"/>
              </a:rPr>
              <a:t>dbt · Spark · DataStage — reacts on the next scheduled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566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EVENT-DRIVEN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0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5478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CDC or 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8221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producer emits a 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6663" y="34290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16703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16703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9583" y="35478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Durable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9583" y="38221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(Kafka topic)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7367" y="34290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47407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47407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0287" y="35478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Stream 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0287" y="38221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(Flink / NiFi)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8071" y="3429000"/>
            <a:ext cx="3200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07D79"/>
                </a:solidFill>
                <a:latin typeface="IBM Plex San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78111" y="3429000"/>
            <a:ext cx="211066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78111" y="3429000"/>
            <a:ext cx="54864" cy="1234440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0991" y="3547872"/>
            <a:ext cx="1790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Continuous sink,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0991" y="3822192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exactly-once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736592"/>
            <a:ext cx="9631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D8D8D"/>
                </a:solidFill>
                <a:latin typeface="IBM Plex Sans"/>
              </a:rPr>
              <a:t>Confluent · Openflow · Lakeflow — reacts within seconds of the source row changing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16636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25252"/>
                </a:solidFill>
                <a:latin typeface="IBM Plex Sans"/>
              </a:rPr>
              <a:t>CDC = reading the database’s transaction log instead of polling tables.   Exactly-once = idempotent producers + transactional writes + offset commits tied to the sink write.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15 / 20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IBM Plex Sans"/>
              </a:rPr>
              <a:t>Airflow Runs the Batch Paths,
Astronomer Makes It Enterprise-Grade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7863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Apache Airflow (open source) schedules and chains this project’s dbt and Spark batch builds — airflow/dags/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March 2025: IBM + Astronomer announced “Astronomer with IBM” — an OEM partnership embedding Astronomer’s managed Astro platform into IBM’s data &amp; AI stack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–  Astronomer is the company behind Apache Airflow — used by 15,000+ data engineering teams</a:t>
            </a:r>
          </a:p>
          <a:p>
            <a:pPr lvl="1">
              <a:lnSpc>
                <a:spcPct val="112000"/>
              </a:lnSpc>
              <a:spcAft>
                <a:spcPts val="1300"/>
              </a:spcAft>
            </a:pPr>
            <a:r>
              <a:rPr sz="1250" b="0">
                <a:solidFill>
                  <a:srgbClr val="161616"/>
                </a:solidFill>
                <a:latin typeface="IBM Plex Sans"/>
              </a:rPr>
              <a:t>–  Adds enterprise scalability, security, support, and hybrid-cloud deployment resiliency on top of open-source Airflow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>
                <a:solidFill>
                  <a:srgbClr val="161616"/>
                </a:solidFill>
                <a:latin typeface="IBM Plex Sans"/>
              </a:rPr>
              <a:t>•  Complements IBM Databand — observability that monitors Airflow, DataStage, and StreamSets pipelines</a:t>
            </a:r>
          </a:p>
        </p:txBody>
      </p:sp>
      <p:pic>
        <p:nvPicPr>
          <p:cNvPr id="6" name="Picture 5" descr="airflow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2057400"/>
            <a:ext cx="1184148" cy="457200"/>
          </a:xfrm>
          <a:prstGeom prst="rect">
            <a:avLst/>
          </a:prstGeom>
        </p:spPr>
      </p:pic>
      <p:pic>
        <p:nvPicPr>
          <p:cNvPr id="7" name="Picture 6" descr="astron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278892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16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dbt vs. Spark vs. DataStage vs. Confluent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31720"/>
                <a:gridCol w="2331720"/>
                <a:gridCol w="2331720"/>
                <a:gridCol w="2331720"/>
              </a:tblGrid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IBM Plex Sans"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IBM Plex Sans"/>
                        </a:rPr>
                        <a:t>dbt</a:t>
                      </a:r>
                    </a:p>
                  </a:txBody>
                  <a:tcPr marL="76200" marR="76200" marT="38100" marB="381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IBM Plex Sans"/>
                        </a:rPr>
                        <a:t>Spark</a:t>
                      </a:r>
                    </a:p>
                  </a:txBody>
                  <a:tcPr marL="76200" marR="76200" marT="38100" marB="381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IBM Plex Sans"/>
                        </a:rPr>
                        <a:t>DataStage</a:t>
                      </a:r>
                    </a:p>
                  </a:txBody>
                  <a:tcPr marL="76200" marR="76200" marT="38100" marB="381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IBM Plex Sans"/>
                        </a:rPr>
                        <a:t>Confluent</a:t>
                      </a:r>
                    </a:p>
                  </a:txBody>
                  <a:tcPr marL="76200" marR="76200" marT="38100" marB="38100" anchor="ctr">
                    <a:solidFill>
                      <a:srgbClr val="16161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Language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SQL + Jinja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Python (PySpark)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No-code visual canvas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Flink SQL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Batch or streaming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Batch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Streaming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Compute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Pushed to Presto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Spark cluster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Pushed to Presto
(lakehouse connector)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Flink cluster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Best for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SQL analytics engineering,
tests + lineage for free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Heavy ETL, ML feature
prep, huge joins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Governed, audited,
visual ETL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Low-latency,
continuous pipelines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Cost model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Free &amp; open source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Free &amp; open source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RU-metered
(enterprise)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OSS self-hosted or
RU / Confluent Cloud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61616"/>
                          </a:solidFill>
                          <a:latin typeface="IBM Plex Sans"/>
                        </a:rPr>
                        <a:t>Learning curve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 (SQL-first teams)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Higher (Spark APIs)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Low (visual)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1616"/>
                          </a:solidFill>
                          <a:latin typeface="IBM Plex Sans"/>
                        </a:rPr>
                        <a:t>Higher (streaming concepts)</a:t>
                      </a:r>
                    </a:p>
                  </a:txBody>
                  <a:tcPr marL="76200" marR="76200" marT="25400" marB="2540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17 /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THE CONSTANT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Presto: The One Query Surface Across All Four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" cy="658368"/>
          </a:xfrm>
          <a:prstGeom prst="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dbt Gold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929384.0"/>
            <a:ext cx="731520" cy="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42316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4864" cy="6583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Spark Gold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752344.0"/>
            <a:ext cx="731520" cy="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324612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4864" cy="65836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DataStage Gold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575304.0"/>
            <a:ext cx="731520" cy="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069080"/>
            <a:ext cx="19659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54864" cy="658368"/>
          </a:xfrm>
          <a:prstGeom prst="rect">
            <a:avLst/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Confluent Gold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4398264.0"/>
            <a:ext cx="731520" cy="0.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3320" y="224028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3320" y="2240280"/>
            <a:ext cx="54864" cy="13716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esto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359152"/>
            <a:ext cx="52858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86200" y="265176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Presto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92608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Federated ANSI 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60020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12280" y="1600200"/>
            <a:ext cx="54864" cy="7772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1719072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BI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99339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Cognos · Power BI · Tableau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446520" y="2624328"/>
            <a:ext cx="365760" cy="301752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12280" y="2542032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542032"/>
            <a:ext cx="54864" cy="7772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2660904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Ad-hoc 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935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Analysts, JDBC / ODBC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46520" y="2926080"/>
            <a:ext cx="365760" cy="640080"/>
          </a:xfrm>
          <a:prstGeom prst="line">
            <a:avLst/>
          </a:prstGeom>
          <a:ln w="158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2920" y="5806440"/>
            <a:ext cx="11185855" cy="54864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61616"/>
                </a:solidFill>
                <a:latin typeface="IBM Plex Sans"/>
              </a:rPr>
              <a:t>Prestissimo (Presto C++) is GA, ~2–3× faster than Presto Java — the same Velox substrate as Gluten-accelerated Spark.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18 / 20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FULL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Reference Architecture — All Four Paths, One 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2821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dbt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Seeds/CSV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9533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9533" y="164592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5947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5947" y="164592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2361" y="164592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2361" y="164592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5973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Spark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37744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Object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9533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9533" y="237744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5947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5947" y="237744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2361" y="237744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361" y="237744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9125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DataStage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310896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Sources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9533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9533" y="310896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Bronze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95947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5947" y="310896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Silver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2361" y="310896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2361" y="310896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2277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7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BM Plex Sans"/>
              </a:rPr>
              <a:t>Confluent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84048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Kafka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99533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9533" y="384048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Flink→Silver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95947" y="3840480"/>
            <a:ext cx="228668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5947" y="3840480"/>
            <a:ext cx="228668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  <a:latin typeface="IBM Plex Sans"/>
              </a:rPr>
              <a:t>Gold (Spark/DS)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63440"/>
            <a:ext cx="11185855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663440"/>
            <a:ext cx="54864" cy="10515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eberg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82312"/>
            <a:ext cx="1024677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5074920"/>
            <a:ext cx="108658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1616"/>
                </a:solidFill>
                <a:latin typeface="IBM Plex Sans"/>
              </a:rPr>
              <a:t>watsonx.data — Iceberg Catalog on MinIO/S3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49240"/>
            <a:ext cx="10865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25252"/>
                </a:solidFill>
                <a:latin typeface="IBM Plex Sans"/>
              </a:rPr>
              <a:t>One catalog · queried by Presto · orchestrated by Airflow (batch) · consumed by BI &amp;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19 / 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62FE"/>
                </a:solidFill>
                <a:latin typeface="IBM Plex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2237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61616"/>
                </a:solidFill>
                <a:latin typeface="IBM Plex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02920" cy="40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61616"/>
                </a:solidFill>
                <a:latin typeface="IBM Plex Sans"/>
              </a:rPr>
              <a:t>•  One governed Iceberg lakehouse, four ways in — pick the tool that fits your team, not the other way around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61616"/>
                </a:solidFill>
                <a:latin typeface="IBM Plex Sans"/>
              </a:rPr>
              <a:t>•  dbt is free and SQL-first; Spark adds Python/ML muscle; DataStage adds no-code governance; Confluent adds real-time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61616"/>
                </a:solidFill>
                <a:latin typeface="IBM Plex Sans"/>
              </a:rPr>
              <a:t>•  The industry — Databricks, Snowflake — is converging on the same event-driven pattern Confluent already delivers here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61616"/>
                </a:solidFill>
                <a:latin typeface="IBM Plex Sans"/>
              </a:rPr>
              <a:t>•  Presto is the constant: one federated query surface over everything, for every BI tool and analyst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161616"/>
                </a:solidFill>
                <a:latin typeface="IBM Plex Sans"/>
              </a:rPr>
              <a:t>•  Orchestration matures too: open-source Airflow today, Astronomer’s enterprise layer when you need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3951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IBM Plex Sans"/>
              </a:rPr>
              <a:t>Try any path yourself in the workshop repo — questions welcome anytime.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D8D8D"/>
                </a:solidFill>
                <a:latin typeface="IBM Plex Sans"/>
              </a:rPr>
              <a:t>Alexander Seelert  ·  IBM Customer Success Engineer  ·  alexander.seelert@gmail.com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watsonx.data — Medallion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D8D8D"/>
                </a:solidFill>
                <a:latin typeface="IBM Plex Sans"/>
              </a:rPr>
              <a:t>20 / 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